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0f9c606-bfcb-096a-e3d8-0ffb124f7386}">
          <p14:sldIdLst>
            <p14:sldId id="256"/>
          </p14:sldIdLst>
        </p14:section>
        <p14:section name="요약" id="{cb9a74b8-c4d1-4f9c-9330-3e9b364c7979}">
          <p14:sldIdLst>
            <p14:sldId id="257"/>
          </p14:sldIdLst>
        </p14:section>
        <p14:section name="성과" id="{dbfa6e45-04c6-6984-d50a-5461975f9e6e}">
          <p14:sldIdLst>
            <p14:sldId id="258"/>
            <p14:sldId id="259"/>
            <p14:sldId id="260"/>
            <p14:sldId id="261"/>
          </p14:sldIdLst>
        </p14:section>
        <p14:section name="이후 과제" id="{9916543f-709b-8187-1260-72937125b28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SKEWNONO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METROLOGY WORKSPACE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SKEWNONO 2026년 성과 보고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조회 도구에서 현업이 매일 쓰는 계측 업무 서비스로</a:t>
            </a:r>
            <a:endParaRPr lang="en-US" sz="2200" dirty="0"/>
          </a:p>
        </p:txBody>
      </p:sp>
      <p:sp>
        <p:nvSpPr>
          <p:cNvPr id="5" name="text-2"/>
          <p:cNvSpPr txBox="1"/>
          <p:nvPr/>
        </p:nvSpPr>
        <p:spPr>
          <a:xfrm>
            <a:off x="731520" y="5943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2026-10-09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현업이 매일 쓰는 계측 서비스가 되었습니다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4" name="text-4"/>
          <p:cNvSpPr txBox="1"/>
          <p:nvPr/>
        </p:nvSpPr>
        <p:spPr>
          <a:xfrm>
            <a:off x="822960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60~70명</a:t>
            </a:r>
            <a:endParaRPr lang="en-US" sz="4800" dirty="0"/>
          </a:p>
        </p:txBody>
      </p:sp>
      <p:sp>
        <p:nvSpPr>
          <p:cNvPr id="5" name="text-5"/>
          <p:cNvSpPr txBox="1"/>
          <p:nvPr/>
        </p:nvSpPr>
        <p:spPr>
          <a:xfrm>
            <a:off x="822960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일평균 접속자</a:t>
            </a:r>
            <a:endParaRPr lang="en-US" sz="1800" dirty="0"/>
          </a:p>
        </p:txBody>
      </p:sp>
      <p:sp>
        <p:nvSpPr>
          <p:cNvPr id="6" name="text-6"/>
          <p:cNvSpPr txBox="1"/>
          <p:nvPr/>
        </p:nvSpPr>
        <p:spPr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인라인 교대 · 공정/소자 엔지니어 · TF</a:t>
            </a:r>
            <a:endParaRPr lang="en-US" sz="1400" dirty="0"/>
          </a:p>
        </p:txBody>
      </p:sp>
      <p:sp>
        <p:nvSpPr>
          <p:cNvPr id="7" name="card-7"/>
          <p:cNvSpPr/>
          <p:nvPr/>
        </p:nvSpPr>
        <p:spPr>
          <a:xfrm>
            <a:off x="4334256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8"/>
          <p:cNvSpPr txBox="1"/>
          <p:nvPr/>
        </p:nvSpPr>
        <p:spPr>
          <a:xfrm>
            <a:off x="4608576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10초 이내</a:t>
            </a:r>
            <a:endParaRPr lang="en-US" sz="4800" dirty="0"/>
          </a:p>
        </p:txBody>
      </p:sp>
      <p:sp>
        <p:nvSpPr>
          <p:cNvPr id="9" name="text-9"/>
          <p:cNvSpPr txBox="1"/>
          <p:nvPr/>
        </p:nvSpPr>
        <p:spPr>
          <a:xfrm>
            <a:off x="4608576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Align Fail 발견 시간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이전에는 늦으면 4~5분</a:t>
            </a:r>
            <a:endParaRPr lang="en-US" sz="1400" dirty="0"/>
          </a:p>
        </p:txBody>
      </p:sp>
      <p:sp>
        <p:nvSpPr>
          <p:cNvPr id="11" name="card-11"/>
          <p:cNvSpPr/>
          <p:nvPr/>
        </p:nvSpPr>
        <p:spPr>
          <a:xfrm>
            <a:off x="8119872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12"/>
          <p:cNvSpPr txBox="1"/>
          <p:nvPr/>
        </p:nvSpPr>
        <p:spPr>
          <a:xfrm>
            <a:off x="8394192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10%</a:t>
            </a:r>
            <a:endParaRPr lang="en-US" sz="4800" dirty="0"/>
          </a:p>
        </p:txBody>
      </p:sp>
      <p:sp>
        <p:nvSpPr>
          <p:cNvPr id="13" name="text-13"/>
          <p:cNvSpPr txBox="1"/>
          <p:nvPr/>
        </p:nvSpPr>
        <p:spPr>
          <a:xfrm>
            <a:off x="8394192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전체 계측 시간 단축</a:t>
            </a:r>
            <a:endParaRPr lang="en-US" sz="1800" dirty="0"/>
          </a:p>
        </p:txBody>
      </p:sp>
      <p:sp>
        <p:nvSpPr>
          <p:cNvPr id="14" name="text-14"/>
          <p:cNvSpPr txBox="1"/>
          <p:nvPr/>
        </p:nvSpPr>
        <p:spPr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포인트 감축의 결과</a:t>
            </a:r>
            <a:endParaRPr lang="en-US" sz="1400" dirty="0"/>
          </a:p>
        </p:txBody>
      </p:sp>
      <p:sp>
        <p:nvSpPr>
          <p:cNvPr id="15" name="dot-15"/>
          <p:cNvSpPr/>
          <p:nvPr/>
        </p:nvSpPr>
        <p:spPr>
          <a:xfrm>
            <a:off x="548640" y="3977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16"/>
          <p:cNvSpPr txBox="1"/>
          <p:nvPr/>
        </p:nvSpPr>
        <p:spPr>
          <a:xfrm>
            <a:off x="1143000" y="397764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디바이스 통계</a:t>
            </a:r>
            <a:endParaRPr lang="en-US" sz="1600" dirty="0"/>
          </a:p>
        </p:txBody>
      </p:sp>
      <p:sp>
        <p:nvSpPr>
          <p:cNvPr id="17" name="text-17"/>
          <p:cNvSpPr txBox="1"/>
          <p:nvPr/>
        </p:nvSpPr>
        <p:spPr>
          <a:xfrm>
            <a:off x="3566160" y="39776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검/계측 효율화 TF</a:t>
            </a:r>
            <a:endParaRPr lang="en-US" sz="1400" dirty="0"/>
          </a:p>
        </p:txBody>
      </p:sp>
      <p:sp>
        <p:nvSpPr>
          <p:cNvPr id="18" name="text-18"/>
          <p:cNvSpPr txBox="1"/>
          <p:nvPr/>
        </p:nvSpPr>
        <p:spPr>
          <a:xfrm>
            <a:off x="6263640" y="397764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파라미터 · 포인트를 추적하는 유일한 수단</a:t>
            </a:r>
            <a:endParaRPr lang="en-US" sz="1400" dirty="0"/>
          </a:p>
        </p:txBody>
      </p:sp>
      <p:sp>
        <p:nvSpPr>
          <p:cNvPr id="19" name="dot-19"/>
          <p:cNvSpPr/>
          <p:nvPr/>
        </p:nvSpPr>
        <p:spPr>
          <a:xfrm>
            <a:off x="548640" y="45445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-20"/>
          <p:cNvSpPr txBox="1"/>
          <p:nvPr/>
        </p:nvSpPr>
        <p:spPr>
          <a:xfrm>
            <a:off x="1143000" y="454456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실시간 알람</a:t>
            </a:r>
            <a:endParaRPr lang="en-US" sz="1600" dirty="0"/>
          </a:p>
        </p:txBody>
      </p:sp>
      <p:sp>
        <p:nvSpPr>
          <p:cNvPr id="21" name="text-21"/>
          <p:cNvSpPr txBox="1"/>
          <p:nvPr/>
        </p:nvSpPr>
        <p:spPr>
          <a:xfrm>
            <a:off x="3566160" y="45445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인라인 교대 구성원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6263640" y="454456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RCS CCTV 대신 실시간으로 Align Fail 확인</a:t>
            </a:r>
            <a:endParaRPr lang="en-US" sz="1400" dirty="0"/>
          </a:p>
        </p:txBody>
      </p:sp>
      <p:sp>
        <p:nvSpPr>
          <p:cNvPr id="23" name="dot-23"/>
          <p:cNvSpPr/>
          <p:nvPr/>
        </p:nvSpPr>
        <p:spPr>
          <a:xfrm>
            <a:off x="548640" y="51114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-24"/>
          <p:cNvSpPr txBox="1"/>
          <p:nvPr/>
        </p:nvSpPr>
        <p:spPr>
          <a:xfrm>
            <a:off x="1143000" y="51114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통합 조회</a:t>
            </a:r>
            <a:endParaRPr lang="en-US" sz="1600" dirty="0"/>
          </a:p>
        </p:txBody>
      </p:sp>
      <p:sp>
        <p:nvSpPr>
          <p:cNvPr id="25" name="text-25"/>
          <p:cNvSpPr txBox="1"/>
          <p:nvPr/>
        </p:nvSpPr>
        <p:spPr>
          <a:xfrm>
            <a:off x="3566160" y="511149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공정 · 소자 엔지니어</a:t>
            </a:r>
            <a:endParaRPr lang="en-US" sz="1400" dirty="0"/>
          </a:p>
        </p:txBody>
      </p:sp>
      <p:sp>
        <p:nvSpPr>
          <p:cNvPr id="26" name="text-26"/>
          <p:cNvSpPr txBox="1"/>
          <p:nvPr/>
        </p:nvSpPr>
        <p:spPr>
          <a:xfrm>
            <a:off x="6263640" y="511149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· 통계 · 결과 데이터를 한 서비스에서 조회</a:t>
            </a:r>
            <a:endParaRPr lang="en-US" sz="1400" dirty="0"/>
          </a:p>
        </p:txBody>
      </p:sp>
      <p:sp>
        <p:nvSpPr>
          <p:cNvPr id="27" name="dot-27"/>
          <p:cNvSpPr/>
          <p:nvPr/>
        </p:nvSpPr>
        <p:spPr>
          <a:xfrm>
            <a:off x="548640" y="56784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143000" y="56784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AFM 관리 툴</a:t>
            </a:r>
            <a:endParaRPr lang="en-US" sz="1600" dirty="0"/>
          </a:p>
        </p:txBody>
      </p:sp>
      <p:sp>
        <p:nvSpPr>
          <p:cNvPr id="29" name="text-29"/>
          <p:cNvSpPr txBox="1"/>
          <p:nvPr/>
        </p:nvSpPr>
        <p:spPr>
          <a:xfrm>
            <a:off x="3566160" y="567842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AFM 사용자</a:t>
            </a:r>
            <a:endParaRPr lang="en-US" sz="1400" dirty="0"/>
          </a:p>
        </p:txBody>
      </p:sp>
      <p:sp>
        <p:nvSpPr>
          <p:cNvPr id="30" name="text-30"/>
          <p:cNvSpPr txBox="1"/>
          <p:nvPr/>
        </p:nvSpPr>
        <p:spPr>
          <a:xfrm>
            <a:off x="6263640" y="567842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AFM 측정 조회와 관리를 스큐노노로 통합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디바이스 통계로 계측 시간을 10% 줄였습니다</a:t>
            </a:r>
            <a:endParaRPr lang="en-US" sz="3600" dirty="0"/>
          </a:p>
        </p:txBody>
      </p:sp>
      <p:sp>
        <p:nvSpPr>
          <p:cNvPr id="3" name="text-31"/>
          <p:cNvSpPr txBox="1"/>
          <p:nvPr/>
        </p:nvSpPr>
        <p:spPr>
          <a:xfrm>
            <a:off x="548640" y="1463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검/계측 효율화 TF 지원</a:t>
            </a:r>
            <a:endParaRPr lang="en-US" sz="1400" dirty="0"/>
          </a:p>
        </p:txBody>
      </p:sp>
      <p:sp>
        <p:nvSpPr>
          <p:cNvPr id="4" name="text-32"/>
          <p:cNvSpPr txBox="1"/>
          <p:nvPr/>
        </p:nvSpPr>
        <p:spPr>
          <a:xfrm>
            <a:off x="548640" y="1828800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효율화의 출발점은 디바이스마다 어떤 파라미터를 몇 포인트 재는지 아는 것입니다. 이를 추적 · 분석할 수 있는 수단은 스큐노노의 디바이스 통계 탭이 유일합니다.</a:t>
            </a:r>
            <a:endParaRPr lang="en-US" sz="1500" dirty="0"/>
          </a:p>
        </p:txBody>
      </p:sp>
      <p:sp>
        <p:nvSpPr>
          <p:cNvPr id="5" name="text-33"/>
          <p:cNvSpPr txBox="1"/>
          <p:nvPr/>
        </p:nvSpPr>
        <p:spPr>
          <a:xfrm>
            <a:off x="548640" y="2880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 계측 효율화 담당 엔지니어의 요구사항을 반영했습니다</a:t>
            </a:r>
            <a:endParaRPr lang="en-US" sz="1600" dirty="0"/>
          </a:p>
        </p:txBody>
      </p:sp>
      <p:sp>
        <p:nvSpPr>
          <p:cNvPr id="6" name="text-34"/>
          <p:cNvSpPr txBox="1"/>
          <p:nvPr/>
        </p:nvSpPr>
        <p:spPr>
          <a:xfrm>
            <a:off x="548640" y="333756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디바이스별 계측 활동 랭킹 · Top-N · 다중 비교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합의된 계측 룰 열람과 룰 준수 판정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 health 신호등으로 살펴볼 lot 선별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주차별 스냅샷으로 계측량 추세 확인</a:t>
            </a:r>
            <a:endParaRPr lang="en-US" sz="1400" dirty="0"/>
          </a:p>
        </p:txBody>
      </p:sp>
      <p:sp>
        <p:nvSpPr>
          <p:cNvPr id="7" name="card-35"/>
          <p:cNvSpPr/>
          <p:nvPr/>
        </p:nvSpPr>
        <p:spPr>
          <a:xfrm>
            <a:off x="548640" y="5029200"/>
            <a:ext cx="630936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-36"/>
          <p:cNvSpPr txBox="1"/>
          <p:nvPr/>
        </p:nvSpPr>
        <p:spPr>
          <a:xfrm>
            <a:off x="777240" y="5166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진행 중 · 디바이스명 설명 스크립트 표준화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t-EV, PV, Pool제 등을 확인하기 어려운 디바이스 description 에 표준화를 적용하고 있습니다.</a:t>
            </a:r>
            <a:endParaRPr lang="en-US" sz="1400" dirty="0"/>
          </a:p>
        </p:txBody>
      </p:sp>
      <p:sp>
        <p:nvSpPr>
          <p:cNvPr id="9" name="card-37"/>
          <p:cNvSpPr/>
          <p:nvPr/>
        </p:nvSpPr>
        <p:spPr>
          <a:xfrm>
            <a:off x="7223760" y="1463040"/>
            <a:ext cx="4416552" cy="4663440"/>
          </a:xfrm>
          <a:prstGeom prst="roundRect">
            <a:avLst>
              <a:gd name="adj" fmla="val 2484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0" name="text-38"/>
          <p:cNvSpPr txBox="1"/>
          <p:nvPr/>
        </p:nvSpPr>
        <p:spPr>
          <a:xfrm>
            <a:off x="7543800" y="16916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10%</a:t>
            </a:r>
            <a:endParaRPr lang="en-US" sz="7200" dirty="0"/>
          </a:p>
        </p:txBody>
      </p:sp>
      <p:sp>
        <p:nvSpPr>
          <p:cNvPr id="11" name="text-39"/>
          <p:cNvSpPr txBox="1"/>
          <p:nvPr/>
        </p:nvSpPr>
        <p:spPr>
          <a:xfrm>
            <a:off x="7543800" y="28803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전체 계측 시간 단축</a:t>
            </a:r>
            <a:endParaRPr lang="en-US" sz="2000" dirty="0"/>
          </a:p>
        </p:txBody>
      </p:sp>
      <p:sp>
        <p:nvSpPr>
          <p:cNvPr id="12" name="text-40"/>
          <p:cNvSpPr txBox="1"/>
          <p:nvPr/>
        </p:nvSpPr>
        <p:spPr>
          <a:xfrm>
            <a:off x="7543800" y="352044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수만 개 Recipe 중 과도 측정 Recipe 를 전부 모니터링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계측 포인트를 감축해 계측 효율화 달성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모든 디바이스가 표준에 맞게 계측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Align Fail 을 10초 안에 발견합니다</a:t>
            </a:r>
            <a:endParaRPr lang="en-US" sz="3600" dirty="0"/>
          </a:p>
        </p:txBody>
      </p:sp>
      <p:sp>
        <p:nvSpPr>
          <p:cNvPr id="3" name="card-41"/>
          <p:cNvSpPr/>
          <p:nvPr/>
        </p:nvSpPr>
        <p:spPr>
          <a:xfrm>
            <a:off x="548640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2"/>
          <p:cNvSpPr txBox="1"/>
          <p:nvPr/>
        </p:nvSpPr>
        <p:spPr>
          <a:xfrm>
            <a:off x="8686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이전 · RCS CCTV</a:t>
            </a:r>
            <a:endParaRPr lang="en-US" sz="1400" dirty="0"/>
          </a:p>
        </p:txBody>
      </p:sp>
      <p:sp>
        <p:nvSpPr>
          <p:cNvPr id="5" name="text-43"/>
          <p:cNvSpPr txBox="1"/>
          <p:nvPr/>
        </p:nvSpPr>
        <p:spPr>
          <a:xfrm>
            <a:off x="868680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4~5분</a:t>
            </a:r>
            <a:endParaRPr lang="en-US" sz="6000" dirty="0"/>
          </a:p>
        </p:txBody>
      </p:sp>
      <p:sp>
        <p:nvSpPr>
          <p:cNvPr id="6" name="text-44"/>
          <p:cNvSpPr txBox="1"/>
          <p:nvPr/>
        </p:nvSpPr>
        <p:spPr>
          <a:xfrm>
            <a:off x="86868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늦으면 발견까지 걸리던 시간</a:t>
            </a:r>
            <a:endParaRPr lang="en-US" sz="1600" dirty="0"/>
          </a:p>
        </p:txBody>
      </p:sp>
      <p:sp>
        <p:nvSpPr>
          <p:cNvPr id="7" name="text-45"/>
          <p:cNvSpPr txBox="1"/>
          <p:nvPr/>
        </p:nvSpPr>
        <p:spPr>
          <a:xfrm>
            <a:off x="868680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매번 많은 장비의 CCTV 를 하나씩 확인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계속 지켜보아야 해 정신적 피로 누적</a:t>
            </a:r>
            <a:endParaRPr lang="en-US" sz="1400" dirty="0"/>
          </a:p>
        </p:txBody>
      </p:sp>
      <p:sp>
        <p:nvSpPr>
          <p:cNvPr id="8" name="card-46"/>
          <p:cNvSpPr/>
          <p:nvPr/>
        </p:nvSpPr>
        <p:spPr>
          <a:xfrm>
            <a:off x="6519672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9" name="text-47"/>
          <p:cNvSpPr txBox="1"/>
          <p:nvPr/>
        </p:nvSpPr>
        <p:spPr>
          <a:xfrm>
            <a:off x="6839712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현재 · 스큐노노 실시간 알람</a:t>
            </a:r>
            <a:endParaRPr lang="en-US" sz="1400" dirty="0"/>
          </a:p>
        </p:txBody>
      </p:sp>
      <p:sp>
        <p:nvSpPr>
          <p:cNvPr id="10" name="text-48"/>
          <p:cNvSpPr txBox="1"/>
          <p:nvPr/>
        </p:nvSpPr>
        <p:spPr>
          <a:xfrm>
            <a:off x="6839712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10초 이내</a:t>
            </a:r>
            <a:endParaRPr lang="en-US" sz="6000" dirty="0"/>
          </a:p>
        </p:txBody>
      </p:sp>
      <p:sp>
        <p:nvSpPr>
          <p:cNvPr id="11" name="text-49"/>
          <p:cNvSpPr txBox="1"/>
          <p:nvPr/>
        </p:nvSpPr>
        <p:spPr>
          <a:xfrm>
            <a:off x="6839712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Align Fail 발견 시간</a:t>
            </a:r>
            <a:endParaRPr lang="en-US" sz="1600" dirty="0"/>
          </a:p>
        </p:txBody>
      </p:sp>
      <p:sp>
        <p:nvSpPr>
          <p:cNvPr id="12" name="text-50"/>
          <p:cNvSpPr txBox="1"/>
          <p:nvPr/>
        </p:nvSpPr>
        <p:spPr>
          <a:xfrm>
            <a:off x="6839712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Align Fail 발생 즉시 피드에 표시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알람이 온 장비만 확인</a:t>
            </a:r>
            <a:endParaRPr lang="en-US" sz="1400" dirty="0"/>
          </a:p>
        </p:txBody>
      </p:sp>
      <p:sp>
        <p:nvSpPr>
          <p:cNvPr id="13" name="arrow-51"/>
          <p:cNvSpPr/>
          <p:nvPr/>
        </p:nvSpPr>
        <p:spPr>
          <a:xfrm>
            <a:off x="5824728" y="2926080"/>
            <a:ext cx="539496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인라인 교대 구성원이 상시 접속해 작업합니다</a:t>
            </a:r>
            <a:endParaRPr lang="en-US" sz="1600" dirty="0"/>
          </a:p>
        </p:txBody>
      </p:sp>
      <p:sp>
        <p:nvSpPr>
          <p:cNvPr id="15" name="dot-53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54"/>
          <p:cNvSpPr txBox="1"/>
          <p:nvPr/>
        </p:nvSpPr>
        <p:spPr>
          <a:xfrm>
            <a:off x="1097280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CD-SEM · HV-SEM 최근 20분 피드</a:t>
            </a:r>
            <a:endParaRPr lang="en-US" sz="1400" dirty="0"/>
          </a:p>
        </p:txBody>
      </p:sp>
      <p:sp>
        <p:nvSpPr>
          <p:cNvPr id="17" name="dot-55"/>
          <p:cNvSpPr/>
          <p:nvPr/>
        </p:nvSpPr>
        <p:spPr>
          <a:xfrm>
            <a:off x="4334256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-56"/>
          <p:cNvSpPr txBox="1"/>
          <p:nvPr/>
        </p:nvSpPr>
        <p:spPr>
          <a:xfrm>
            <a:off x="4882896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미확인 건수를 브라우저 탭 제목에 표시</a:t>
            </a:r>
            <a:endParaRPr lang="en-US" sz="1400" dirty="0"/>
          </a:p>
        </p:txBody>
      </p:sp>
      <p:sp>
        <p:nvSpPr>
          <p:cNvPr id="19" name="dot-57"/>
          <p:cNvSpPr/>
          <p:nvPr/>
        </p:nvSpPr>
        <p:spPr>
          <a:xfrm>
            <a:off x="8119872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58"/>
          <p:cNvSpPr txBox="1"/>
          <p:nvPr/>
        </p:nvSpPr>
        <p:spPr>
          <a:xfrm>
            <a:off x="8668512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Align 이미지와 십자선 오버레이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Recipe · 통계 · 결과를 한 곳에서 봅니다</a:t>
            </a:r>
            <a:endParaRPr lang="en-US" sz="3600" dirty="0"/>
          </a:p>
        </p:txBody>
      </p:sp>
      <p:sp>
        <p:nvSpPr>
          <p:cNvPr id="3" name="text-59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함께 볼 수 있어 공정 · 소자 엔지니어가 많이 사용합니다</a:t>
            </a:r>
            <a:endParaRPr lang="en-US" sz="1600" dirty="0"/>
          </a:p>
        </p:txBody>
      </p:sp>
      <p:sp>
        <p:nvSpPr>
          <p:cNvPr id="4" name="card-60"/>
          <p:cNvSpPr/>
          <p:nvPr/>
        </p:nvSpPr>
        <p:spPr>
          <a:xfrm>
            <a:off x="548640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61"/>
          <p:cNvSpPr/>
          <p:nvPr/>
        </p:nvSpPr>
        <p:spPr>
          <a:xfrm>
            <a:off x="822960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62"/>
          <p:cNvSpPr txBox="1"/>
          <p:nvPr/>
        </p:nvSpPr>
        <p:spPr>
          <a:xfrm>
            <a:off x="1417320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정보</a:t>
            </a:r>
            <a:endParaRPr lang="en-US" sz="2000" dirty="0"/>
          </a:p>
        </p:txBody>
      </p:sp>
      <p:sp>
        <p:nvSpPr>
          <p:cNvPr id="7" name="text-63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검색</a:t>
            </a:r>
            <a:endParaRPr lang="en-US" sz="1400" dirty="0"/>
          </a:p>
        </p:txBody>
      </p:sp>
      <p:sp>
        <p:nvSpPr>
          <p:cNvPr id="8" name="text-64"/>
          <p:cNvSpPr txBox="1"/>
          <p:nvPr/>
        </p:nvSpPr>
        <p:spPr>
          <a:xfrm>
            <a:off x="141732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열어보기, 횡전개, 측정 이력, 비교</a:t>
            </a:r>
            <a:endParaRPr lang="en-US" sz="1400" dirty="0"/>
          </a:p>
        </p:txBody>
      </p:sp>
      <p:sp>
        <p:nvSpPr>
          <p:cNvPr id="9" name="card-65"/>
          <p:cNvSpPr/>
          <p:nvPr/>
        </p:nvSpPr>
        <p:spPr>
          <a:xfrm>
            <a:off x="6227064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66"/>
          <p:cNvSpPr/>
          <p:nvPr/>
        </p:nvSpPr>
        <p:spPr>
          <a:xfrm>
            <a:off x="6501384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67"/>
          <p:cNvSpPr txBox="1"/>
          <p:nvPr/>
        </p:nvSpPr>
        <p:spPr>
          <a:xfrm>
            <a:off x="7095744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통계 정보</a:t>
            </a:r>
            <a:endParaRPr lang="en-US" sz="2000" dirty="0"/>
          </a:p>
        </p:txBody>
      </p:sp>
      <p:sp>
        <p:nvSpPr>
          <p:cNvPr id="12" name="text-68"/>
          <p:cNvSpPr txBox="1"/>
          <p:nvPr/>
        </p:nvSpPr>
        <p:spPr>
          <a:xfrm>
            <a:off x="7095744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현황 · 디바이스 통계</a:t>
            </a:r>
            <a:endParaRPr lang="en-US" sz="1400" dirty="0"/>
          </a:p>
        </p:txBody>
      </p:sp>
      <p:sp>
        <p:nvSpPr>
          <p:cNvPr id="13" name="text-69"/>
          <p:cNvSpPr txBox="1"/>
          <p:nvPr/>
        </p:nvSpPr>
        <p:spPr>
          <a:xfrm>
            <a:off x="7095744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별 TAT, Align · 측정 실패 추이, 디바이스별 계측 활동</a:t>
            </a:r>
            <a:endParaRPr lang="en-US" sz="1400" dirty="0"/>
          </a:p>
        </p:txBody>
      </p:sp>
      <p:sp>
        <p:nvSpPr>
          <p:cNvPr id="14" name="card-70"/>
          <p:cNvSpPr/>
          <p:nvPr/>
        </p:nvSpPr>
        <p:spPr>
          <a:xfrm>
            <a:off x="548640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71"/>
          <p:cNvSpPr/>
          <p:nvPr/>
        </p:nvSpPr>
        <p:spPr>
          <a:xfrm>
            <a:off x="82296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72"/>
          <p:cNvSpPr txBox="1"/>
          <p:nvPr/>
        </p:nvSpPr>
        <p:spPr>
          <a:xfrm>
            <a:off x="1417320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결과 데이터</a:t>
            </a:r>
            <a:endParaRPr lang="en-US" sz="2000" dirty="0"/>
          </a:p>
        </p:txBody>
      </p:sp>
      <p:sp>
        <p:nvSpPr>
          <p:cNvPr id="17" name="text-73"/>
          <p:cNvSpPr txBox="1"/>
          <p:nvPr/>
        </p:nvSpPr>
        <p:spPr>
          <a:xfrm>
            <a:off x="1417320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스큐보아</a:t>
            </a:r>
            <a:endParaRPr lang="en-US" sz="1400" dirty="0"/>
          </a:p>
        </p:txBody>
      </p:sp>
      <p:sp>
        <p:nvSpPr>
          <p:cNvPr id="18" name="text-74"/>
          <p:cNvSpPr txBox="1"/>
          <p:nvPr/>
        </p:nvSpPr>
        <p:spPr>
          <a:xfrm>
            <a:off x="1417320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측정 세트를 웨이퍼 맵, 시계열, 상관, 이미지로 분석</a:t>
            </a:r>
            <a:endParaRPr lang="en-US" sz="1400" dirty="0"/>
          </a:p>
        </p:txBody>
      </p:sp>
      <p:sp>
        <p:nvSpPr>
          <p:cNvPr id="19" name="card-75"/>
          <p:cNvSpPr/>
          <p:nvPr/>
        </p:nvSpPr>
        <p:spPr>
          <a:xfrm>
            <a:off x="6227064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76"/>
          <p:cNvSpPr/>
          <p:nvPr/>
        </p:nvSpPr>
        <p:spPr>
          <a:xfrm>
            <a:off x="6501384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77"/>
          <p:cNvSpPr txBox="1"/>
          <p:nvPr/>
        </p:nvSpPr>
        <p:spPr>
          <a:xfrm>
            <a:off x="7095744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 상태</a:t>
            </a:r>
            <a:endParaRPr lang="en-US" sz="2000" dirty="0"/>
          </a:p>
        </p:txBody>
      </p:sp>
      <p:sp>
        <p:nvSpPr>
          <p:cNvPr id="22" name="text-78"/>
          <p:cNvSpPr txBox="1"/>
          <p:nvPr/>
        </p:nvSpPr>
        <p:spPr>
          <a:xfrm>
            <a:off x="7095744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장비 상태 · 스토리지 용량 · H/W 관리</a:t>
            </a:r>
            <a:endParaRPr lang="en-US" sz="1400" dirty="0"/>
          </a:p>
        </p:txBody>
      </p:sp>
      <p:sp>
        <p:nvSpPr>
          <p:cNvPr id="23" name="text-79"/>
          <p:cNvSpPr txBox="1"/>
          <p:nvPr/>
        </p:nvSpPr>
        <p:spPr>
          <a:xfrm>
            <a:off x="7095744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가용 장비, 디스크 용량, 하드웨어 지표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AFM 까지 담아 통합 서비스에 다가섰습니다</a:t>
            </a:r>
            <a:endParaRPr lang="en-US" sz="3600" dirty="0"/>
          </a:p>
        </p:txBody>
      </p:sp>
      <p:sp>
        <p:nvSpPr>
          <p:cNvPr id="3" name="text-80"/>
          <p:cNvSpPr txBox="1"/>
          <p:nvPr/>
        </p:nvSpPr>
        <p:spPr>
          <a:xfrm>
            <a:off x="548640" y="15087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AFM 관리 툴을 구현해 기존 AFM 조회 페이지를 스큐노노로 통합했습니다. E-Beam 계측에 이어 AFM 까지 한 서비스에 담아 Metrology Workspace 에 한발 더 가까워졌습니다.</a:t>
            </a:r>
            <a:endParaRPr lang="en-US" sz="1500" dirty="0"/>
          </a:p>
        </p:txBody>
      </p:sp>
      <p:sp>
        <p:nvSpPr>
          <p:cNvPr id="4" name="text-81"/>
          <p:cNvSpPr txBox="1"/>
          <p:nvPr/>
        </p:nvSpPr>
        <p:spPr>
          <a:xfrm>
            <a:off x="5486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 장비 3대</a:t>
            </a:r>
            <a:endParaRPr lang="en-US" sz="1600" dirty="0"/>
          </a:p>
        </p:txBody>
      </p:sp>
      <p:sp>
        <p:nvSpPr>
          <p:cNvPr id="5" name="card-82"/>
          <p:cNvSpPr/>
          <p:nvPr/>
        </p:nvSpPr>
        <p:spPr>
          <a:xfrm>
            <a:off x="548640" y="365760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3"/>
          <p:cNvSpPr txBox="1"/>
          <p:nvPr/>
        </p:nvSpPr>
        <p:spPr>
          <a:xfrm>
            <a:off x="82296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MAP608</a:t>
            </a:r>
            <a:endParaRPr lang="en-US" sz="1800" dirty="0"/>
          </a:p>
        </p:txBody>
      </p:sp>
      <p:sp>
        <p:nvSpPr>
          <p:cNvPr id="7" name="text-84"/>
          <p:cNvSpPr txBox="1"/>
          <p:nvPr/>
        </p:nvSpPr>
        <p:spPr>
          <a:xfrm>
            <a:off x="3749040" y="3657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PKG</a:t>
            </a:r>
            <a:endParaRPr lang="en-US" sz="1600" dirty="0"/>
          </a:p>
        </p:txBody>
      </p:sp>
      <p:sp>
        <p:nvSpPr>
          <p:cNvPr id="8" name="card-85"/>
          <p:cNvSpPr/>
          <p:nvPr/>
        </p:nvSpPr>
        <p:spPr>
          <a:xfrm>
            <a:off x="548640" y="448056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822960" y="44805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MAPC01</a:t>
            </a:r>
            <a:endParaRPr lang="en-US" sz="1800" dirty="0"/>
          </a:p>
        </p:txBody>
      </p:sp>
      <p:sp>
        <p:nvSpPr>
          <p:cNvPr id="10" name="text-87"/>
          <p:cNvSpPr txBox="1"/>
          <p:nvPr/>
        </p:nvSpPr>
        <p:spPr>
          <a:xfrm>
            <a:off x="3749040" y="44805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R3</a:t>
            </a:r>
            <a:endParaRPr lang="en-US" sz="1600" dirty="0"/>
          </a:p>
        </p:txBody>
      </p:sp>
      <p:sp>
        <p:nvSpPr>
          <p:cNvPr id="11" name="card-88"/>
          <p:cNvSpPr/>
          <p:nvPr/>
        </p:nvSpPr>
        <p:spPr>
          <a:xfrm>
            <a:off x="548640" y="530352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89"/>
          <p:cNvSpPr txBox="1"/>
          <p:nvPr/>
        </p:nvSpPr>
        <p:spPr>
          <a:xfrm>
            <a:off x="822960" y="53035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5EAP1501</a:t>
            </a:r>
            <a:endParaRPr lang="en-US" sz="1800" dirty="0"/>
          </a:p>
        </p:txBody>
      </p:sp>
      <p:sp>
        <p:nvSpPr>
          <p:cNvPr id="13" name="text-90"/>
          <p:cNvSpPr txBox="1"/>
          <p:nvPr/>
        </p:nvSpPr>
        <p:spPr>
          <a:xfrm>
            <a:off x="3749040" y="530352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M15</a:t>
            </a:r>
            <a:endParaRPr lang="en-US" sz="1600" dirty="0"/>
          </a:p>
        </p:txBody>
      </p:sp>
      <p:sp>
        <p:nvSpPr>
          <p:cNvPr id="14" name="card-91"/>
          <p:cNvSpPr/>
          <p:nvPr/>
        </p:nvSpPr>
        <p:spPr>
          <a:xfrm>
            <a:off x="5852160" y="1463040"/>
            <a:ext cx="5788152" cy="4663440"/>
          </a:xfrm>
          <a:prstGeom prst="roundRect">
            <a:avLst>
              <a:gd name="adj" fmla="val 2353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5" name="dot-92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93"/>
          <p:cNvSpPr txBox="1"/>
          <p:nvPr/>
        </p:nvSpPr>
        <p:spPr>
          <a:xfrm>
            <a:off x="6858000" y="18105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측정 결과</a:t>
            </a:r>
            <a:endParaRPr lang="en-US" sz="1800" dirty="0"/>
          </a:p>
        </p:txBody>
      </p:sp>
      <p:sp>
        <p:nvSpPr>
          <p:cNvPr id="17" name="text-94"/>
          <p:cNvSpPr txBox="1"/>
          <p:nvPr/>
        </p:nvSpPr>
        <p:spPr>
          <a:xfrm>
            <a:off x="685800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측정 검색, 측정 상세, 시계열 비교</a:t>
            </a:r>
            <a:endParaRPr lang="en-US" sz="1400" dirty="0"/>
          </a:p>
        </p:txBody>
      </p:sp>
      <p:sp>
        <p:nvSpPr>
          <p:cNvPr id="18" name="dot-95"/>
          <p:cNvSpPr/>
          <p:nvPr/>
        </p:nvSpPr>
        <p:spPr>
          <a:xfrm>
            <a:off x="6217920" y="2880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-96"/>
          <p:cNvSpPr txBox="1"/>
          <p:nvPr/>
        </p:nvSpPr>
        <p:spPr>
          <a:xfrm>
            <a:off x="6858000" y="2862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팁 모니터링</a:t>
            </a:r>
            <a:endParaRPr lang="en-US" sz="1800" dirty="0"/>
          </a:p>
        </p:txBody>
      </p:sp>
      <p:sp>
        <p:nvSpPr>
          <p:cNvPr id="20" name="text-97"/>
          <p:cNvSpPr txBox="1"/>
          <p:nvPr/>
        </p:nvSpPr>
        <p:spPr>
          <a:xfrm>
            <a:off x="685800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팁별 상태 판정과 Tip Width 추이</a:t>
            </a:r>
            <a:endParaRPr lang="en-US" sz="1400" dirty="0"/>
          </a:p>
        </p:txBody>
      </p:sp>
      <p:sp>
        <p:nvSpPr>
          <p:cNvPr id="21" name="dot-98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-99"/>
          <p:cNvSpPr txBox="1"/>
          <p:nvPr/>
        </p:nvSpPr>
        <p:spPr>
          <a:xfrm>
            <a:off x="6858000" y="39136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가동 현황</a:t>
            </a:r>
            <a:endParaRPr lang="en-US" sz="1800" dirty="0"/>
          </a:p>
        </p:txBody>
      </p:sp>
      <p:sp>
        <p:nvSpPr>
          <p:cNvPr id="23" name="text-100"/>
          <p:cNvSpPr txBox="1"/>
          <p:nvPr/>
        </p:nvSpPr>
        <p:spPr>
          <a:xfrm>
            <a:off x="685800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일별 · 시간대별 측정 건수</a:t>
            </a:r>
            <a:endParaRPr lang="en-US" sz="1400" dirty="0"/>
          </a:p>
        </p:txBody>
      </p:sp>
      <p:sp>
        <p:nvSpPr>
          <p:cNvPr id="24" name="dot-101"/>
          <p:cNvSpPr/>
          <p:nvPr/>
        </p:nvSpPr>
        <p:spPr>
          <a:xfrm>
            <a:off x="6217920" y="498348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-102"/>
          <p:cNvSpPr txBox="1"/>
          <p:nvPr/>
        </p:nvSpPr>
        <p:spPr>
          <a:xfrm>
            <a:off x="6858000" y="4965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Recipe 현황</a:t>
            </a:r>
            <a:endParaRPr lang="en-US" sz="1800" dirty="0"/>
          </a:p>
        </p:txBody>
      </p:sp>
      <p:sp>
        <p:nvSpPr>
          <p:cNvPr id="26" name="text-103"/>
          <p:cNvSpPr txBox="1"/>
          <p:nvPr/>
        </p:nvSpPr>
        <p:spPr>
          <a:xfrm>
            <a:off x="6858000" y="5367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Recipe 별 측정 이력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이후 과제</a:t>
            </a:r>
            <a:endParaRPr lang="en-US" sz="4000" dirty="0"/>
          </a:p>
        </p:txBody>
      </p:sp>
      <p:sp>
        <p:nvSpPr>
          <p:cNvPr id="3" name="dot-104"/>
          <p:cNvSpPr/>
          <p:nvPr/>
        </p:nvSpPr>
        <p:spPr>
          <a:xfrm>
            <a:off x="731520" y="20574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-105"/>
          <p:cNvSpPr txBox="1"/>
          <p:nvPr/>
        </p:nvSpPr>
        <p:spPr>
          <a:xfrm>
            <a:off x="1417320" y="20116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디바이스명 설명 스크립트 표준화 마무리</a:t>
            </a:r>
            <a:endParaRPr lang="en-US" sz="2600" dirty="0"/>
          </a:p>
        </p:txBody>
      </p:sp>
      <p:sp>
        <p:nvSpPr>
          <p:cNvPr id="5" name="text-106"/>
          <p:cNvSpPr txBox="1"/>
          <p:nvPr/>
        </p:nvSpPr>
        <p:spPr>
          <a:xfrm>
            <a:off x="1417320" y="26060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디바이스 통계의 룰 판정을 안정시킵니다.</a:t>
            </a:r>
            <a:endParaRPr lang="en-US" sz="1600" dirty="0"/>
          </a:p>
        </p:txBody>
      </p:sp>
      <p:sp>
        <p:nvSpPr>
          <p:cNvPr id="6" name="dot-107"/>
          <p:cNvSpPr/>
          <p:nvPr/>
        </p:nvSpPr>
        <p:spPr>
          <a:xfrm>
            <a:off x="731520" y="35204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text-108"/>
          <p:cNvSpPr txBox="1"/>
          <p:nvPr/>
        </p:nvSpPr>
        <p:spPr>
          <a:xfrm>
            <a:off x="1417320" y="34747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지원 장비 확대</a:t>
            </a:r>
            <a:endParaRPr lang="en-US" sz="2600" dirty="0"/>
          </a:p>
        </p:txBody>
      </p:sp>
      <p:sp>
        <p:nvSpPr>
          <p:cNvPr id="8" name="text-109"/>
          <p:cNvSpPr txBox="1"/>
          <p:nvPr/>
        </p:nvSpPr>
        <p:spPr>
          <a:xfrm>
            <a:off x="1417320" y="40690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VeritySEM · Provision · Thickness 로 넓혀 Metrology Workspace 통합을 이어 갑니다.</a:t>
            </a:r>
            <a:endParaRPr lang="en-US" sz="1600" dirty="0"/>
          </a:p>
        </p:txBody>
      </p:sp>
      <p:sp>
        <p:nvSpPr>
          <p:cNvPr id="9" name="text-110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일평균 접속자 60~70명 · 인라인 교대 구성원 · 공정/소자 엔지니어 · 검/계측 효율화 TF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EWNONO">
  <a:themeElements>
    <a:clrScheme name="SKEWNONO">
      <a:dk1>
        <a:srgbClr val="15110D"/>
      </a:dk1>
      <a:lt1>
        <a:srgbClr val="FFFFFF"/>
      </a:lt1>
      <a:dk2>
        <a:srgbClr val="5C534A"/>
      </a:dk2>
      <a:lt2>
        <a:srgbClr val="F3F1EE"/>
      </a:lt2>
      <a:accent1>
        <a:srgbClr val="C75A3C"/>
      </a:accent1>
      <a:accent2>
        <a:srgbClr val="8A3D27"/>
      </a:accent2>
      <a:accent3>
        <a:srgbClr val="F3DCD2"/>
      </a:accent3>
      <a:accent4>
        <a:srgbClr val="3F7D4E"/>
      </a:accent4>
      <a:accent5>
        <a:srgbClr val="9A9088"/>
      </a:accent5>
      <a:accent6>
        <a:srgbClr val="E3DED8"/>
      </a:accent6>
      <a:hlink>
        <a:srgbClr val="C75A3C"/>
      </a:hlink>
      <a:folHlink>
        <a:srgbClr val="8A3D27"/>
      </a:folHlink>
    </a:clrScheme>
    <a:fontScheme name="SKEWNON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SKEWNONO 2026년 성과 보고</dc:title>
  <dc:subject>PptxGenJS Presentation</dc:subject>
  <dc:creator>PptxGenJS</dc:creator>
  <cp:lastModifiedBy>PptxGenJS</cp:lastModifiedBy>
  <cp:revision>1</cp:revision>
  <dcterms:created xsi:type="dcterms:W3CDTF">2026-10-09T06:52:33Z</dcterms:created>
  <dcterms:modified xsi:type="dcterms:W3CDTF">2026-10-09T06:52:33Z</dcterms:modified>
</cp:coreProperties>
</file>