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14"/>
    <p:sldId id="264" r:id="rId15"/>
    <p:sldId id="265" r:id="rId16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d0f9c606-bfcb-096a-e3d8-0ffb124f7386}">
          <p14:sldIdLst>
            <p14:sldId id="256"/>
          </p14:sldIdLst>
        </p14:section>
        <p14:section name="요약" id="{cb9a74b8-c4d1-4f9c-9330-3e9b364c7979}">
          <p14:sldIdLst>
            <p14:sldId id="257"/>
          </p14:sldIdLst>
        </p14:section>
        <p14:section name="성과" id="{dbfa6e45-04c6-6984-d50a-5461975f9e6e}">
          <p14:sldIdLst>
            <p14:sldId id="258"/>
            <p14:sldId id="259"/>
            <p14:sldId id="260"/>
            <p14:sldId id="261"/>
          </p14:sldIdLst>
        </p14:section>
        <p14:section name="이후 과제" id="{9916543f-709b-8187-1260-72937125b281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  <Relationship Id="rId14" Type="http://schemas.openxmlformats.org/officeDocument/2006/relationships/slide" Target="slides/slide8.xml"/>
  <Relationship Id="rId15" Type="http://schemas.openxmlformats.org/officeDocument/2006/relationships/slide" Target="slides/slide9.xml"/>
  <Relationship Id="rId16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5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SKEWNONO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15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METROLOGY WORKSPACE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SKEWNONO 2026년 성과 보고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520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조회 도구에서 현업이 매일 쓰는 계측 업무 서비스로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731520" y="5943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2026-10-09 · 갱신 2026-10-20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현업이 매일 쓰는 계측 서비스가 되었습니다</a:t>
            </a:r>
            <a:endParaRPr lang="en-US" sz="3600" dirty="0"/>
          </a:p>
        </p:txBody>
      </p:sp>
      <p:sp>
        <p:nvSpPr>
          <p:cNvPr id="3" name="card-3"/>
          <p:cNvSpPr/>
          <p:nvPr/>
        </p:nvSpPr>
        <p:spPr>
          <a:xfrm>
            <a:off x="548640" y="150876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15110D"/>
          </a:solidFill>
          <a:ln w="12700">
            <a:solidFill>
              <a:srgbClr val="15110D"/>
            </a:solidFill>
            <a:prstDash val="solid"/>
          </a:ln>
        </p:spPr>
      </p:sp>
      <p:sp>
        <p:nvSpPr>
          <p:cNvPr id="4" name="text-4"/>
          <p:cNvSpPr txBox="1"/>
          <p:nvPr/>
        </p:nvSpPr>
        <p:spPr>
          <a:xfrm>
            <a:off x="822960" y="16916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60~70명</a:t>
            </a:r>
            <a:endParaRPr lang="en-US" sz="4800" dirty="0"/>
          </a:p>
        </p:txBody>
      </p:sp>
      <p:sp>
        <p:nvSpPr>
          <p:cNvPr id="5" name="text-5"/>
          <p:cNvSpPr txBox="1"/>
          <p:nvPr/>
        </p:nvSpPr>
        <p:spPr>
          <a:xfrm>
            <a:off x="82296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일평균 접속자</a:t>
            </a:r>
            <a:endParaRPr lang="en-US" sz="1800" dirty="0"/>
          </a:p>
        </p:txBody>
      </p:sp>
      <p:sp>
        <p:nvSpPr>
          <p:cNvPr id="6" name="text-6"/>
          <p:cNvSpPr txBox="1"/>
          <p:nvPr/>
        </p:nvSpPr>
        <p:spPr>
          <a:xfrm>
            <a:off x="822960" y="3063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인라인 교대 · 공정/소자 엔지니어 · TF</a:t>
            </a:r>
            <a:endParaRPr lang="en-US" sz="1400" dirty="0"/>
          </a:p>
        </p:txBody>
      </p:sp>
      <p:sp>
        <p:nvSpPr>
          <p:cNvPr id="7" name="card-7"/>
          <p:cNvSpPr/>
          <p:nvPr/>
        </p:nvSpPr>
        <p:spPr>
          <a:xfrm>
            <a:off x="4334256" y="150876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8"/>
          <p:cNvSpPr txBox="1"/>
          <p:nvPr/>
        </p:nvSpPr>
        <p:spPr>
          <a:xfrm>
            <a:off x="4608576" y="16916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10초 이내</a:t>
            </a:r>
            <a:endParaRPr lang="en-US" sz="4800" dirty="0"/>
          </a:p>
        </p:txBody>
      </p:sp>
      <p:sp>
        <p:nvSpPr>
          <p:cNvPr id="9" name="text-9"/>
          <p:cNvSpPr txBox="1"/>
          <p:nvPr/>
        </p:nvSpPr>
        <p:spPr>
          <a:xfrm>
            <a:off x="4608576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Align Fail 발견 시간</a:t>
            </a:r>
            <a:endParaRPr lang="en-US" sz="1800" dirty="0"/>
          </a:p>
        </p:txBody>
      </p:sp>
      <p:sp>
        <p:nvSpPr>
          <p:cNvPr id="10" name="text-10"/>
          <p:cNvSpPr txBox="1"/>
          <p:nvPr/>
        </p:nvSpPr>
        <p:spPr>
          <a:xfrm>
            <a:off x="4608576" y="3063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이전에는 늦으면 4~5분</a:t>
            </a:r>
            <a:endParaRPr lang="en-US" sz="1400" dirty="0"/>
          </a:p>
        </p:txBody>
      </p:sp>
      <p:sp>
        <p:nvSpPr>
          <p:cNvPr id="11" name="card-11"/>
          <p:cNvSpPr/>
          <p:nvPr/>
        </p:nvSpPr>
        <p:spPr>
          <a:xfrm>
            <a:off x="8119872" y="150876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12"/>
          <p:cNvSpPr txBox="1"/>
          <p:nvPr/>
        </p:nvSpPr>
        <p:spPr>
          <a:xfrm>
            <a:off x="8394192" y="16916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10%</a:t>
            </a:r>
            <a:endParaRPr lang="en-US" sz="4800" dirty="0"/>
          </a:p>
        </p:txBody>
      </p:sp>
      <p:sp>
        <p:nvSpPr>
          <p:cNvPr id="13" name="text-13"/>
          <p:cNvSpPr txBox="1"/>
          <p:nvPr/>
        </p:nvSpPr>
        <p:spPr>
          <a:xfrm>
            <a:off x="8394192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전체 계측 시간 단축</a:t>
            </a:r>
            <a:endParaRPr lang="en-US" sz="1800" dirty="0"/>
          </a:p>
        </p:txBody>
      </p:sp>
      <p:sp>
        <p:nvSpPr>
          <p:cNvPr id="14" name="text-14"/>
          <p:cNvSpPr txBox="1"/>
          <p:nvPr/>
        </p:nvSpPr>
        <p:spPr>
          <a:xfrm>
            <a:off x="8394192" y="3063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계측 포인트 감축의 결과</a:t>
            </a:r>
            <a:endParaRPr lang="en-US" sz="1400" dirty="0"/>
          </a:p>
        </p:txBody>
      </p:sp>
      <p:sp>
        <p:nvSpPr>
          <p:cNvPr id="15" name="dot-15"/>
          <p:cNvSpPr/>
          <p:nvPr/>
        </p:nvSpPr>
        <p:spPr>
          <a:xfrm>
            <a:off x="548640" y="38862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-16"/>
          <p:cNvSpPr txBox="1"/>
          <p:nvPr/>
        </p:nvSpPr>
        <p:spPr>
          <a:xfrm>
            <a:off x="1143000" y="38862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디바이스 통계</a:t>
            </a:r>
            <a:endParaRPr lang="en-US" sz="1600" dirty="0"/>
          </a:p>
        </p:txBody>
      </p:sp>
      <p:sp>
        <p:nvSpPr>
          <p:cNvPr id="17" name="text-17"/>
          <p:cNvSpPr txBox="1"/>
          <p:nvPr/>
        </p:nvSpPr>
        <p:spPr>
          <a:xfrm>
            <a:off x="3566160" y="388620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검/계측 효율화 TF</a:t>
            </a:r>
            <a:endParaRPr lang="en-US" sz="1400" dirty="0"/>
          </a:p>
        </p:txBody>
      </p:sp>
      <p:sp>
        <p:nvSpPr>
          <p:cNvPr id="18" name="text-18"/>
          <p:cNvSpPr txBox="1"/>
          <p:nvPr/>
        </p:nvSpPr>
        <p:spPr>
          <a:xfrm>
            <a:off x="6263640" y="3886200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계측 파라미터 · 포인트를 추적하는 유일한 수단</a:t>
            </a:r>
            <a:endParaRPr lang="en-US" sz="1400" dirty="0"/>
          </a:p>
        </p:txBody>
      </p:sp>
      <p:sp>
        <p:nvSpPr>
          <p:cNvPr id="19" name="dot-19"/>
          <p:cNvSpPr/>
          <p:nvPr/>
        </p:nvSpPr>
        <p:spPr>
          <a:xfrm>
            <a:off x="548640" y="43616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-20"/>
          <p:cNvSpPr txBox="1"/>
          <p:nvPr/>
        </p:nvSpPr>
        <p:spPr>
          <a:xfrm>
            <a:off x="1143000" y="436168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실시간 알람</a:t>
            </a:r>
            <a:endParaRPr lang="en-US" sz="1600" dirty="0"/>
          </a:p>
        </p:txBody>
      </p:sp>
      <p:sp>
        <p:nvSpPr>
          <p:cNvPr id="21" name="text-21"/>
          <p:cNvSpPr txBox="1"/>
          <p:nvPr/>
        </p:nvSpPr>
        <p:spPr>
          <a:xfrm>
            <a:off x="3566160" y="436168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인라인 교대 구성원</a:t>
            </a:r>
            <a:endParaRPr lang="en-US" sz="1400" dirty="0"/>
          </a:p>
        </p:txBody>
      </p:sp>
      <p:sp>
        <p:nvSpPr>
          <p:cNvPr id="22" name="text-22"/>
          <p:cNvSpPr txBox="1"/>
          <p:nvPr/>
        </p:nvSpPr>
        <p:spPr>
          <a:xfrm>
            <a:off x="6263640" y="4361688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RCS CCTV 대신 실시간으로 Align Fail 확인</a:t>
            </a:r>
            <a:endParaRPr lang="en-US" sz="1400" dirty="0"/>
          </a:p>
        </p:txBody>
      </p:sp>
      <p:sp>
        <p:nvSpPr>
          <p:cNvPr id="23" name="dot-23"/>
          <p:cNvSpPr/>
          <p:nvPr/>
        </p:nvSpPr>
        <p:spPr>
          <a:xfrm>
            <a:off x="548640" y="483717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-24"/>
          <p:cNvSpPr txBox="1"/>
          <p:nvPr/>
        </p:nvSpPr>
        <p:spPr>
          <a:xfrm>
            <a:off x="1143000" y="48371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통합 조회</a:t>
            </a:r>
            <a:endParaRPr lang="en-US" sz="1600" dirty="0"/>
          </a:p>
        </p:txBody>
      </p:sp>
      <p:sp>
        <p:nvSpPr>
          <p:cNvPr id="25" name="text-25"/>
          <p:cNvSpPr txBox="1"/>
          <p:nvPr/>
        </p:nvSpPr>
        <p:spPr>
          <a:xfrm>
            <a:off x="3566160" y="483717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공정 · 소자 엔지니어</a:t>
            </a:r>
            <a:endParaRPr lang="en-US" sz="1400" dirty="0"/>
          </a:p>
        </p:txBody>
      </p:sp>
      <p:sp>
        <p:nvSpPr>
          <p:cNvPr id="26" name="text-26"/>
          <p:cNvSpPr txBox="1"/>
          <p:nvPr/>
        </p:nvSpPr>
        <p:spPr>
          <a:xfrm>
            <a:off x="6263640" y="4837176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Recipe · 통계 · 결과 데이터를 한 서비스에서 조회</a:t>
            </a:r>
            <a:endParaRPr lang="en-US" sz="1400" dirty="0"/>
          </a:p>
        </p:txBody>
      </p:sp>
      <p:sp>
        <p:nvSpPr>
          <p:cNvPr id="27" name="dot-27"/>
          <p:cNvSpPr/>
          <p:nvPr/>
        </p:nvSpPr>
        <p:spPr>
          <a:xfrm>
            <a:off x="548640" y="531266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-28"/>
          <p:cNvSpPr txBox="1"/>
          <p:nvPr/>
        </p:nvSpPr>
        <p:spPr>
          <a:xfrm>
            <a:off x="1143000" y="531266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AFM 관리 툴</a:t>
            </a:r>
            <a:endParaRPr lang="en-US" sz="1600" dirty="0"/>
          </a:p>
        </p:txBody>
      </p:sp>
      <p:sp>
        <p:nvSpPr>
          <p:cNvPr id="29" name="text-29"/>
          <p:cNvSpPr txBox="1"/>
          <p:nvPr/>
        </p:nvSpPr>
        <p:spPr>
          <a:xfrm>
            <a:off x="3566160" y="531266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AFM 사용자</a:t>
            </a:r>
            <a:endParaRPr lang="en-US" sz="1400" dirty="0"/>
          </a:p>
        </p:txBody>
      </p:sp>
      <p:sp>
        <p:nvSpPr>
          <p:cNvPr id="30" name="text-30"/>
          <p:cNvSpPr txBox="1"/>
          <p:nvPr/>
        </p:nvSpPr>
        <p:spPr>
          <a:xfrm>
            <a:off x="6263640" y="5312664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AFM 측정 조회와 관리를 스큐노노로 통합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31" name="row5-0"/>
          <p:cNvSpPr/>
          <p:nvPr/>
        </p:nvSpPr>
        <p:spPr>
          <a:xfrm>
            <a:off x="548640" y="578815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row5-1"/>
          <p:cNvSpPr txBox="1"/>
          <p:nvPr/>
        </p:nvSpPr>
        <p:spPr>
          <a:xfrm>
            <a:off x="1143000" y="57881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FTP 접속</a:t>
            </a:r>
            <a:endParaRPr lang="en-US" sz="1600" dirty="0"/>
          </a:p>
        </p:txBody>
      </p:sp>
      <p:sp>
        <p:nvSpPr>
          <p:cNvPr id="33" name="row5-2"/>
          <p:cNvSpPr txBox="1"/>
          <p:nvPr/>
        </p:nvSpPr>
        <p:spPr>
          <a:xfrm>
            <a:off x="3566160" y="578815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Metrology 엔지니어</a:t>
            </a:r>
            <a:endParaRPr lang="en-US" sz="1400" dirty="0"/>
          </a:p>
        </p:txBody>
      </p:sp>
      <p:sp>
        <p:nvSpPr>
          <p:cNvPr id="34" name="row5-3"/>
          <p:cNvSpPr txBox="1"/>
          <p:nvPr/>
        </p:nvSpPr>
        <p:spPr>
          <a:xfrm>
            <a:off x="6263640" y="5788152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별도 FTP 프로그램 없이 장비 파일을 웹에서 열람 · 다운로드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디바이스 통계로 계측 시간을 10% 줄였습니다</a:t>
            </a:r>
            <a:endParaRPr lang="en-US" sz="3600" dirty="0"/>
          </a:p>
        </p:txBody>
      </p:sp>
      <p:sp>
        <p:nvSpPr>
          <p:cNvPr id="3" name="text-31"/>
          <p:cNvSpPr txBox="1"/>
          <p:nvPr/>
        </p:nvSpPr>
        <p:spPr>
          <a:xfrm>
            <a:off x="548640" y="14630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검/계측 효율화 TF 지원</a:t>
            </a:r>
            <a:endParaRPr lang="en-US" sz="1400" dirty="0"/>
          </a:p>
        </p:txBody>
      </p:sp>
      <p:sp>
        <p:nvSpPr>
          <p:cNvPr id="4" name="text-32"/>
          <p:cNvSpPr txBox="1"/>
          <p:nvPr/>
        </p:nvSpPr>
        <p:spPr>
          <a:xfrm>
            <a:off x="548640" y="182880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효율화의 출발점은 디바이스마다 어떤 파라미터를 몇 포인트 재는지 아는 것입니다. 이를 추적 · 분석할 수 있는 수단은 스큐노노의 디바이스 통계 탭이 유일합니다.</a:t>
            </a:r>
            <a:endParaRPr lang="en-US" sz="1500" dirty="0"/>
          </a:p>
        </p:txBody>
      </p:sp>
      <p:sp>
        <p:nvSpPr>
          <p:cNvPr id="5" name="text-33"/>
          <p:cNvSpPr txBox="1"/>
          <p:nvPr/>
        </p:nvSpPr>
        <p:spPr>
          <a:xfrm>
            <a:off x="548640" y="28803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CD 계측 효율화 담당 엔지니어의 요구사항을 반영했습니다</a:t>
            </a:r>
            <a:endParaRPr lang="en-US" sz="1600" dirty="0"/>
          </a:p>
        </p:txBody>
      </p:sp>
      <p:sp>
        <p:nvSpPr>
          <p:cNvPr id="6" name="text-34"/>
          <p:cNvSpPr txBox="1"/>
          <p:nvPr/>
        </p:nvSpPr>
        <p:spPr>
          <a:xfrm>
            <a:off x="548640" y="3337560"/>
            <a:ext cx="6309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디바이스별 계측 활동 랭킹 · Top-N · 다중 비교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합의된 계측 룰 열람과 룰 준수 판정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lot health 신호등으로 살펴볼 lot 선별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주차별 스냅샷으로 계측량 추세 확인</a:t>
            </a:r>
            <a:endParaRPr lang="en-US" sz="1400" dirty="0"/>
          </a:p>
        </p:txBody>
      </p:sp>
      <p:sp>
        <p:nvSpPr>
          <p:cNvPr id="7" name="card-35"/>
          <p:cNvSpPr/>
          <p:nvPr/>
        </p:nvSpPr>
        <p:spPr>
          <a:xfrm>
            <a:off x="548640" y="5029200"/>
            <a:ext cx="6309360" cy="109728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-36"/>
          <p:cNvSpPr txBox="1"/>
          <p:nvPr/>
        </p:nvSpPr>
        <p:spPr>
          <a:xfrm>
            <a:off x="777240" y="51663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진행 중 · 디바이스명 설명 스크립트 표준화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t-EV, PV, Pool제 등을 확인하기 어려운 디바이스 description 에 표준화를 적용하고 있습니다.</a:t>
            </a:r>
            <a:endParaRPr lang="en-US" sz="1400" dirty="0"/>
          </a:p>
        </p:txBody>
      </p:sp>
      <p:sp>
        <p:nvSpPr>
          <p:cNvPr id="9" name="card-37"/>
          <p:cNvSpPr/>
          <p:nvPr/>
        </p:nvSpPr>
        <p:spPr>
          <a:xfrm>
            <a:off x="7223760" y="1463040"/>
            <a:ext cx="4416552" cy="4663440"/>
          </a:xfrm>
          <a:prstGeom prst="roundRect">
            <a:avLst>
              <a:gd name="adj" fmla="val 2484"/>
            </a:avLst>
          </a:prstGeom>
          <a:solidFill>
            <a:srgbClr val="15110D"/>
          </a:solidFill>
          <a:ln w="12700">
            <a:solidFill>
              <a:srgbClr val="15110D"/>
            </a:solidFill>
            <a:prstDash val="solid"/>
          </a:ln>
        </p:spPr>
      </p:sp>
      <p:sp>
        <p:nvSpPr>
          <p:cNvPr id="10" name="text-38"/>
          <p:cNvSpPr txBox="1"/>
          <p:nvPr/>
        </p:nvSpPr>
        <p:spPr>
          <a:xfrm>
            <a:off x="7543800" y="169164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10%</a:t>
            </a:r>
            <a:endParaRPr lang="en-US" sz="7200" dirty="0"/>
          </a:p>
        </p:txBody>
      </p:sp>
      <p:sp>
        <p:nvSpPr>
          <p:cNvPr id="11" name="text-39"/>
          <p:cNvSpPr txBox="1"/>
          <p:nvPr/>
        </p:nvSpPr>
        <p:spPr>
          <a:xfrm>
            <a:off x="7543800" y="2880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전체 계측 시간 단축</a:t>
            </a:r>
            <a:endParaRPr lang="en-US" sz="2000" dirty="0"/>
          </a:p>
        </p:txBody>
      </p:sp>
      <p:sp>
        <p:nvSpPr>
          <p:cNvPr id="12" name="text-40"/>
          <p:cNvSpPr txBox="1"/>
          <p:nvPr/>
        </p:nvSpPr>
        <p:spPr>
          <a:xfrm>
            <a:off x="7543800" y="352044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수만 개 Recipe 중 과도 측정 Recipe 를 전부 모니터링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계측 포인트를 감축해 계측 효율화 달성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모든 디바이스가 표준에 맞게 계측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Align Fail 을 10초 안에 발견합니다</a:t>
            </a:r>
            <a:endParaRPr lang="en-US" sz="3600" dirty="0"/>
          </a:p>
        </p:txBody>
      </p:sp>
      <p:sp>
        <p:nvSpPr>
          <p:cNvPr id="3" name="card-41"/>
          <p:cNvSpPr/>
          <p:nvPr/>
        </p:nvSpPr>
        <p:spPr>
          <a:xfrm>
            <a:off x="548640" y="1463040"/>
            <a:ext cx="512064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42"/>
          <p:cNvSpPr txBox="1"/>
          <p:nvPr/>
        </p:nvSpPr>
        <p:spPr>
          <a:xfrm>
            <a:off x="868680" y="1691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이전 · RCS CCTV</a:t>
            </a:r>
            <a:endParaRPr lang="en-US" sz="1400" dirty="0"/>
          </a:p>
        </p:txBody>
      </p:sp>
      <p:sp>
        <p:nvSpPr>
          <p:cNvPr id="5" name="text-43"/>
          <p:cNvSpPr txBox="1"/>
          <p:nvPr/>
        </p:nvSpPr>
        <p:spPr>
          <a:xfrm>
            <a:off x="868680" y="20574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4~5분</a:t>
            </a:r>
            <a:endParaRPr lang="en-US" sz="6000" dirty="0"/>
          </a:p>
        </p:txBody>
      </p:sp>
      <p:sp>
        <p:nvSpPr>
          <p:cNvPr id="6" name="text-44"/>
          <p:cNvSpPr txBox="1"/>
          <p:nvPr/>
        </p:nvSpPr>
        <p:spPr>
          <a:xfrm>
            <a:off x="868680" y="3108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늦으면 발견까지 걸리던 시간</a:t>
            </a:r>
            <a:endParaRPr lang="en-US" sz="1600" dirty="0"/>
          </a:p>
        </p:txBody>
      </p:sp>
      <p:sp>
        <p:nvSpPr>
          <p:cNvPr id="7" name="text-45"/>
          <p:cNvSpPr txBox="1"/>
          <p:nvPr/>
        </p:nvSpPr>
        <p:spPr>
          <a:xfrm>
            <a:off x="868680" y="36118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매번 많은 장비의 CCTV 를 하나씩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계속 지켜보아야 해 정신적 피로 누적</a:t>
            </a:r>
            <a:endParaRPr lang="en-US" sz="1400" dirty="0"/>
          </a:p>
        </p:txBody>
      </p:sp>
      <p:sp>
        <p:nvSpPr>
          <p:cNvPr id="8" name="card-46"/>
          <p:cNvSpPr/>
          <p:nvPr/>
        </p:nvSpPr>
        <p:spPr>
          <a:xfrm>
            <a:off x="6519672" y="1463040"/>
            <a:ext cx="5120640" cy="3429000"/>
          </a:xfrm>
          <a:prstGeom prst="roundRect">
            <a:avLst>
              <a:gd name="adj" fmla="val 3200"/>
            </a:avLst>
          </a:prstGeom>
          <a:solidFill>
            <a:srgbClr val="15110D"/>
          </a:solidFill>
          <a:ln w="12700">
            <a:solidFill>
              <a:srgbClr val="15110D"/>
            </a:solidFill>
            <a:prstDash val="solid"/>
          </a:ln>
        </p:spPr>
      </p:sp>
      <p:sp>
        <p:nvSpPr>
          <p:cNvPr id="9" name="text-47"/>
          <p:cNvSpPr txBox="1"/>
          <p:nvPr/>
        </p:nvSpPr>
        <p:spPr>
          <a:xfrm>
            <a:off x="6839712" y="1691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현재 · 스큐노노 실시간 알람</a:t>
            </a:r>
            <a:endParaRPr lang="en-US" sz="1400" dirty="0"/>
          </a:p>
        </p:txBody>
      </p:sp>
      <p:sp>
        <p:nvSpPr>
          <p:cNvPr id="10" name="text-48"/>
          <p:cNvSpPr txBox="1"/>
          <p:nvPr/>
        </p:nvSpPr>
        <p:spPr>
          <a:xfrm>
            <a:off x="6839712" y="20574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10초 이내</a:t>
            </a:r>
            <a:endParaRPr lang="en-US" sz="6000" dirty="0"/>
          </a:p>
        </p:txBody>
      </p:sp>
      <p:sp>
        <p:nvSpPr>
          <p:cNvPr id="11" name="text-49"/>
          <p:cNvSpPr txBox="1"/>
          <p:nvPr/>
        </p:nvSpPr>
        <p:spPr>
          <a:xfrm>
            <a:off x="6839712" y="3108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Align Fail 발견 시간</a:t>
            </a:r>
            <a:endParaRPr lang="en-US" sz="1600" dirty="0"/>
          </a:p>
        </p:txBody>
      </p:sp>
      <p:sp>
        <p:nvSpPr>
          <p:cNvPr id="12" name="text-50"/>
          <p:cNvSpPr txBox="1"/>
          <p:nvPr/>
        </p:nvSpPr>
        <p:spPr>
          <a:xfrm>
            <a:off x="6839712" y="36118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Align Fail 발생 즉시 피드에 표시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알람이 온 장비만 확인</a:t>
            </a:r>
            <a:endParaRPr lang="en-US" sz="1400" dirty="0"/>
          </a:p>
        </p:txBody>
      </p:sp>
      <p:sp>
        <p:nvSpPr>
          <p:cNvPr id="13" name="arrow-51"/>
          <p:cNvSpPr/>
          <p:nvPr/>
        </p:nvSpPr>
        <p:spPr>
          <a:xfrm>
            <a:off x="5824728" y="2926080"/>
            <a:ext cx="539496" cy="4572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-52"/>
          <p:cNvSpPr txBox="1"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인라인 교대 구성원이 상시 접속해 작업합니다</a:t>
            </a:r>
            <a:endParaRPr lang="en-US" sz="1600" dirty="0"/>
          </a:p>
        </p:txBody>
      </p:sp>
      <p:sp>
        <p:nvSpPr>
          <p:cNvPr id="15" name="dot-53"/>
          <p:cNvSpPr/>
          <p:nvPr/>
        </p:nvSpPr>
        <p:spPr>
          <a:xfrm>
            <a:off x="548640" y="56235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-54"/>
          <p:cNvSpPr txBox="1"/>
          <p:nvPr/>
        </p:nvSpPr>
        <p:spPr>
          <a:xfrm>
            <a:off x="1097280" y="562356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CD-SEM · HV-SEM 최근 20분 피드</a:t>
            </a:r>
            <a:endParaRPr lang="en-US" sz="1400" dirty="0"/>
          </a:p>
        </p:txBody>
      </p:sp>
      <p:sp>
        <p:nvSpPr>
          <p:cNvPr id="17" name="dot-55"/>
          <p:cNvSpPr/>
          <p:nvPr/>
        </p:nvSpPr>
        <p:spPr>
          <a:xfrm>
            <a:off x="4334256" y="56235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-56"/>
          <p:cNvSpPr txBox="1"/>
          <p:nvPr/>
        </p:nvSpPr>
        <p:spPr>
          <a:xfrm>
            <a:off x="4882896" y="562356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미확인 건수를 브라우저 탭 제목에 표시</a:t>
            </a:r>
            <a:endParaRPr lang="en-US" sz="1400" dirty="0"/>
          </a:p>
        </p:txBody>
      </p:sp>
      <p:sp>
        <p:nvSpPr>
          <p:cNvPr id="19" name="dot-57"/>
          <p:cNvSpPr/>
          <p:nvPr/>
        </p:nvSpPr>
        <p:spPr>
          <a:xfrm>
            <a:off x="8119872" y="56235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-58"/>
          <p:cNvSpPr txBox="1"/>
          <p:nvPr/>
        </p:nvSpPr>
        <p:spPr>
          <a:xfrm>
            <a:off x="8668512" y="562356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Align 이미지와 십자선 오버레이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Recipe · 통계 · 결과를 한 곳에서 봅니다</a:t>
            </a:r>
            <a:endParaRPr lang="en-US" sz="3600" dirty="0"/>
          </a:p>
        </p:txBody>
      </p:sp>
      <p:sp>
        <p:nvSpPr>
          <p:cNvPr id="3" name="text-59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함께 볼 수 있어 공정 · 소자 엔지니어가 많이 사용합니다</a:t>
            </a:r>
            <a:endParaRPr lang="en-US" sz="1600" dirty="0"/>
          </a:p>
        </p:txBody>
      </p:sp>
      <p:sp>
        <p:nvSpPr>
          <p:cNvPr id="4" name="card-60"/>
          <p:cNvSpPr/>
          <p:nvPr/>
        </p:nvSpPr>
        <p:spPr>
          <a:xfrm>
            <a:off x="548640" y="2011680"/>
            <a:ext cx="541324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ot-61"/>
          <p:cNvSpPr/>
          <p:nvPr/>
        </p:nvSpPr>
        <p:spPr>
          <a:xfrm>
            <a:off x="822960" y="22860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-62"/>
          <p:cNvSpPr txBox="1"/>
          <p:nvPr/>
        </p:nvSpPr>
        <p:spPr>
          <a:xfrm>
            <a:off x="1417320" y="228600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Recipe 정보</a:t>
            </a:r>
            <a:endParaRPr lang="en-US" sz="2000" dirty="0"/>
          </a:p>
        </p:txBody>
      </p:sp>
      <p:sp>
        <p:nvSpPr>
          <p:cNvPr id="7" name="text-63"/>
          <p:cNvSpPr txBox="1"/>
          <p:nvPr/>
        </p:nvSpPr>
        <p:spPr>
          <a:xfrm>
            <a:off x="1417320" y="2788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Recipe 검색</a:t>
            </a:r>
            <a:endParaRPr lang="en-US" sz="1400" dirty="0"/>
          </a:p>
        </p:txBody>
      </p:sp>
      <p:sp>
        <p:nvSpPr>
          <p:cNvPr id="8" name="text-64"/>
          <p:cNvSpPr txBox="1"/>
          <p:nvPr/>
        </p:nvSpPr>
        <p:spPr>
          <a:xfrm>
            <a:off x="141732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열어보기, 횡전개, 측정 이력, 비교</a:t>
            </a:r>
            <a:endParaRPr lang="en-US" sz="1400" dirty="0"/>
          </a:p>
        </p:txBody>
      </p:sp>
      <p:sp>
        <p:nvSpPr>
          <p:cNvPr id="9" name="card-65"/>
          <p:cNvSpPr/>
          <p:nvPr/>
        </p:nvSpPr>
        <p:spPr>
          <a:xfrm>
            <a:off x="6227064" y="2011680"/>
            <a:ext cx="541324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ot-66"/>
          <p:cNvSpPr/>
          <p:nvPr/>
        </p:nvSpPr>
        <p:spPr>
          <a:xfrm>
            <a:off x="6501384" y="22860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-67"/>
          <p:cNvSpPr txBox="1"/>
          <p:nvPr/>
        </p:nvSpPr>
        <p:spPr>
          <a:xfrm>
            <a:off x="7095744" y="228600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통계 정보</a:t>
            </a:r>
            <a:endParaRPr lang="en-US" sz="2000" dirty="0"/>
          </a:p>
        </p:txBody>
      </p:sp>
      <p:sp>
        <p:nvSpPr>
          <p:cNvPr id="12" name="text-68"/>
          <p:cNvSpPr txBox="1"/>
          <p:nvPr/>
        </p:nvSpPr>
        <p:spPr>
          <a:xfrm>
            <a:off x="7095744" y="2788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Recipe 현황 · 디바이스 통계</a:t>
            </a:r>
            <a:endParaRPr lang="en-US" sz="1400" dirty="0"/>
          </a:p>
        </p:txBody>
      </p:sp>
      <p:sp>
        <p:nvSpPr>
          <p:cNvPr id="13" name="text-69"/>
          <p:cNvSpPr txBox="1"/>
          <p:nvPr/>
        </p:nvSpPr>
        <p:spPr>
          <a:xfrm>
            <a:off x="7095744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Recipe 별 TAT, Align · 측정 실패 추이, 디바이스별 계측 활동</a:t>
            </a:r>
            <a:endParaRPr lang="en-US" sz="1400" dirty="0"/>
          </a:p>
        </p:txBody>
      </p:sp>
      <p:sp>
        <p:nvSpPr>
          <p:cNvPr id="14" name="card-70"/>
          <p:cNvSpPr/>
          <p:nvPr/>
        </p:nvSpPr>
        <p:spPr>
          <a:xfrm>
            <a:off x="548640" y="4114800"/>
            <a:ext cx="541324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dot-71"/>
          <p:cNvSpPr/>
          <p:nvPr/>
        </p:nvSpPr>
        <p:spPr>
          <a:xfrm>
            <a:off x="822960" y="43891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-72"/>
          <p:cNvSpPr txBox="1"/>
          <p:nvPr/>
        </p:nvSpPr>
        <p:spPr>
          <a:xfrm>
            <a:off x="1417320" y="438912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결과 데이터</a:t>
            </a:r>
            <a:endParaRPr lang="en-US" sz="2000" dirty="0"/>
          </a:p>
        </p:txBody>
      </p:sp>
      <p:sp>
        <p:nvSpPr>
          <p:cNvPr id="17" name="text-73"/>
          <p:cNvSpPr txBox="1"/>
          <p:nvPr/>
        </p:nvSpPr>
        <p:spPr>
          <a:xfrm>
            <a:off x="1417320" y="4892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스큐보아</a:t>
            </a:r>
            <a:endParaRPr lang="en-US" sz="1400" dirty="0"/>
          </a:p>
        </p:txBody>
      </p:sp>
      <p:sp>
        <p:nvSpPr>
          <p:cNvPr id="18" name="text-74"/>
          <p:cNvSpPr txBox="1"/>
          <p:nvPr/>
        </p:nvSpPr>
        <p:spPr>
          <a:xfrm>
            <a:off x="1417320" y="5257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측정 세트를 웨이퍼 맵, 시계열, 상관, 이미지로 분석</a:t>
            </a:r>
            <a:endParaRPr lang="en-US" sz="1400" dirty="0"/>
          </a:p>
        </p:txBody>
      </p:sp>
      <p:sp>
        <p:nvSpPr>
          <p:cNvPr id="19" name="card-75"/>
          <p:cNvSpPr/>
          <p:nvPr/>
        </p:nvSpPr>
        <p:spPr>
          <a:xfrm>
            <a:off x="6227064" y="4114800"/>
            <a:ext cx="541324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dot-76"/>
          <p:cNvSpPr/>
          <p:nvPr/>
        </p:nvSpPr>
        <p:spPr>
          <a:xfrm>
            <a:off x="6501384" y="43891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-77"/>
          <p:cNvSpPr txBox="1"/>
          <p:nvPr/>
        </p:nvSpPr>
        <p:spPr>
          <a:xfrm>
            <a:off x="7095744" y="438912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장비 상태</a:t>
            </a:r>
            <a:endParaRPr lang="en-US" sz="2000" dirty="0"/>
          </a:p>
        </p:txBody>
      </p:sp>
      <p:sp>
        <p:nvSpPr>
          <p:cNvPr id="22" name="text-78"/>
          <p:cNvSpPr txBox="1"/>
          <p:nvPr/>
        </p:nvSpPr>
        <p:spPr>
          <a:xfrm>
            <a:off x="7095744" y="4892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장비 상태 · 스토리지 · H/W 관리 · FTP 접속</a:t>
            </a:r>
            <a:endParaRPr lang="en-US" sz="1400" dirty="0"/>
          </a:p>
        </p:txBody>
      </p:sp>
      <p:sp>
        <p:nvSpPr>
          <p:cNvPr id="23" name="text-79"/>
          <p:cNvSpPr txBox="1"/>
          <p:nvPr/>
        </p:nvSpPr>
        <p:spPr>
          <a:xfrm>
            <a:off x="7095744" y="5257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가용 장비, 디스크 용량, 하드웨어 지표, 장비 파일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AFM 까지 담아 통합 서비스에 다가섰습니다</a:t>
            </a:r>
            <a:endParaRPr lang="en-US" sz="3600" dirty="0"/>
          </a:p>
        </p:txBody>
      </p:sp>
      <p:sp>
        <p:nvSpPr>
          <p:cNvPr id="3" name="text-80"/>
          <p:cNvSpPr txBox="1"/>
          <p:nvPr/>
        </p:nvSpPr>
        <p:spPr>
          <a:xfrm>
            <a:off x="548640" y="15087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AFM 관리 툴을 구현해 기존 AFM 조회 페이지를 스큐노노로 통합했습니다. E-Beam 계측에 이어 AFM 까지 한 서비스에 담아 Metrology Workspace 에 한발 더 가까워졌습니다.</a:t>
            </a:r>
            <a:endParaRPr lang="en-US" sz="1500" dirty="0"/>
          </a:p>
        </p:txBody>
      </p:sp>
      <p:sp>
        <p:nvSpPr>
          <p:cNvPr id="4" name="text-81"/>
          <p:cNvSpPr txBox="1"/>
          <p:nvPr/>
        </p:nvSpPr>
        <p:spPr>
          <a:xfrm>
            <a:off x="548640" y="3154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대상 장비 3대</a:t>
            </a:r>
            <a:endParaRPr lang="en-US" sz="1600" dirty="0"/>
          </a:p>
        </p:txBody>
      </p:sp>
      <p:sp>
        <p:nvSpPr>
          <p:cNvPr id="5" name="card-82"/>
          <p:cNvSpPr/>
          <p:nvPr/>
        </p:nvSpPr>
        <p:spPr>
          <a:xfrm>
            <a:off x="548640" y="3657600"/>
            <a:ext cx="48463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83"/>
          <p:cNvSpPr txBox="1"/>
          <p:nvPr/>
        </p:nvSpPr>
        <p:spPr>
          <a:xfrm>
            <a:off x="822960" y="36576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MAP608</a:t>
            </a:r>
            <a:endParaRPr lang="en-US" sz="1800" dirty="0"/>
          </a:p>
        </p:txBody>
      </p:sp>
      <p:sp>
        <p:nvSpPr>
          <p:cNvPr id="7" name="text-84"/>
          <p:cNvSpPr txBox="1"/>
          <p:nvPr/>
        </p:nvSpPr>
        <p:spPr>
          <a:xfrm>
            <a:off x="3749040" y="36576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PKG</a:t>
            </a:r>
            <a:endParaRPr lang="en-US" sz="1600" dirty="0"/>
          </a:p>
        </p:txBody>
      </p:sp>
      <p:sp>
        <p:nvSpPr>
          <p:cNvPr id="8" name="card-85"/>
          <p:cNvSpPr/>
          <p:nvPr/>
        </p:nvSpPr>
        <p:spPr>
          <a:xfrm>
            <a:off x="548640" y="4480560"/>
            <a:ext cx="48463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-86"/>
          <p:cNvSpPr txBox="1"/>
          <p:nvPr/>
        </p:nvSpPr>
        <p:spPr>
          <a:xfrm>
            <a:off x="822960" y="44805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MAPC01</a:t>
            </a:r>
            <a:endParaRPr lang="en-US" sz="1800" dirty="0"/>
          </a:p>
        </p:txBody>
      </p:sp>
      <p:sp>
        <p:nvSpPr>
          <p:cNvPr id="10" name="text-87"/>
          <p:cNvSpPr txBox="1"/>
          <p:nvPr/>
        </p:nvSpPr>
        <p:spPr>
          <a:xfrm>
            <a:off x="3749040" y="44805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R3</a:t>
            </a:r>
            <a:endParaRPr lang="en-US" sz="1600" dirty="0"/>
          </a:p>
        </p:txBody>
      </p:sp>
      <p:sp>
        <p:nvSpPr>
          <p:cNvPr id="11" name="card-88"/>
          <p:cNvSpPr/>
          <p:nvPr/>
        </p:nvSpPr>
        <p:spPr>
          <a:xfrm>
            <a:off x="548640" y="5303520"/>
            <a:ext cx="48463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89"/>
          <p:cNvSpPr txBox="1"/>
          <p:nvPr/>
        </p:nvSpPr>
        <p:spPr>
          <a:xfrm>
            <a:off x="822960" y="53035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5EAP1501</a:t>
            </a:r>
            <a:endParaRPr lang="en-US" sz="1800" dirty="0"/>
          </a:p>
        </p:txBody>
      </p:sp>
      <p:sp>
        <p:nvSpPr>
          <p:cNvPr id="13" name="text-90"/>
          <p:cNvSpPr txBox="1"/>
          <p:nvPr/>
        </p:nvSpPr>
        <p:spPr>
          <a:xfrm>
            <a:off x="3749040" y="53035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M15</a:t>
            </a:r>
            <a:endParaRPr lang="en-US" sz="1600" dirty="0"/>
          </a:p>
        </p:txBody>
      </p:sp>
      <p:sp>
        <p:nvSpPr>
          <p:cNvPr id="14" name="card-91"/>
          <p:cNvSpPr/>
          <p:nvPr/>
        </p:nvSpPr>
        <p:spPr>
          <a:xfrm>
            <a:off x="5852160" y="1463040"/>
            <a:ext cx="5788152" cy="4663440"/>
          </a:xfrm>
          <a:prstGeom prst="roundRect">
            <a:avLst>
              <a:gd name="adj" fmla="val 2353"/>
            </a:avLst>
          </a:prstGeom>
          <a:solidFill>
            <a:srgbClr val="15110D"/>
          </a:solidFill>
          <a:ln w="12700">
            <a:solidFill>
              <a:srgbClr val="15110D"/>
            </a:solidFill>
            <a:prstDash val="solid"/>
          </a:ln>
        </p:spPr>
      </p:sp>
      <p:sp>
        <p:nvSpPr>
          <p:cNvPr id="15" name="dot-92"/>
          <p:cNvSpPr/>
          <p:nvPr/>
        </p:nvSpPr>
        <p:spPr>
          <a:xfrm>
            <a:off x="6217920" y="18288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-93"/>
          <p:cNvSpPr txBox="1"/>
          <p:nvPr/>
        </p:nvSpPr>
        <p:spPr>
          <a:xfrm>
            <a:off x="6858000" y="18105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측정 결과</a:t>
            </a:r>
            <a:endParaRPr lang="en-US" sz="1800" dirty="0"/>
          </a:p>
        </p:txBody>
      </p:sp>
      <p:sp>
        <p:nvSpPr>
          <p:cNvPr id="17" name="text-94"/>
          <p:cNvSpPr txBox="1"/>
          <p:nvPr/>
        </p:nvSpPr>
        <p:spPr>
          <a:xfrm>
            <a:off x="6858000" y="22128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측정 검색, 측정 상세, 시계열 비교</a:t>
            </a:r>
            <a:endParaRPr lang="en-US" sz="1400" dirty="0"/>
          </a:p>
        </p:txBody>
      </p:sp>
      <p:sp>
        <p:nvSpPr>
          <p:cNvPr id="18" name="dot-95"/>
          <p:cNvSpPr/>
          <p:nvPr/>
        </p:nvSpPr>
        <p:spPr>
          <a:xfrm>
            <a:off x="6217920" y="28803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-96"/>
          <p:cNvSpPr txBox="1"/>
          <p:nvPr/>
        </p:nvSpPr>
        <p:spPr>
          <a:xfrm>
            <a:off x="6858000" y="28620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팁 모니터링</a:t>
            </a:r>
            <a:endParaRPr lang="en-US" sz="1800" dirty="0"/>
          </a:p>
        </p:txBody>
      </p:sp>
      <p:sp>
        <p:nvSpPr>
          <p:cNvPr id="20" name="text-97"/>
          <p:cNvSpPr txBox="1"/>
          <p:nvPr/>
        </p:nvSpPr>
        <p:spPr>
          <a:xfrm>
            <a:off x="6858000" y="3264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팁별 상태 판정과 Tip Width 추이</a:t>
            </a:r>
            <a:endParaRPr lang="en-US" sz="1400" dirty="0"/>
          </a:p>
        </p:txBody>
      </p:sp>
      <p:sp>
        <p:nvSpPr>
          <p:cNvPr id="21" name="dot-98"/>
          <p:cNvSpPr/>
          <p:nvPr/>
        </p:nvSpPr>
        <p:spPr>
          <a:xfrm>
            <a:off x="6217920" y="39319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-99"/>
          <p:cNvSpPr txBox="1"/>
          <p:nvPr/>
        </p:nvSpPr>
        <p:spPr>
          <a:xfrm>
            <a:off x="6858000" y="39136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가동 현황</a:t>
            </a:r>
            <a:endParaRPr lang="en-US" sz="1800" dirty="0"/>
          </a:p>
        </p:txBody>
      </p:sp>
      <p:sp>
        <p:nvSpPr>
          <p:cNvPr id="23" name="text-100"/>
          <p:cNvSpPr txBox="1"/>
          <p:nvPr/>
        </p:nvSpPr>
        <p:spPr>
          <a:xfrm>
            <a:off x="6858000" y="43159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일별 · 시간대별 측정 건수</a:t>
            </a:r>
            <a:endParaRPr lang="en-US" sz="1400" dirty="0"/>
          </a:p>
        </p:txBody>
      </p:sp>
      <p:sp>
        <p:nvSpPr>
          <p:cNvPr id="24" name="dot-101"/>
          <p:cNvSpPr/>
          <p:nvPr/>
        </p:nvSpPr>
        <p:spPr>
          <a:xfrm>
            <a:off x="6217920" y="498348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-102"/>
          <p:cNvSpPr txBox="1"/>
          <p:nvPr/>
        </p:nvSpPr>
        <p:spPr>
          <a:xfrm>
            <a:off x="6858000" y="49651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Recipe 현황</a:t>
            </a:r>
            <a:endParaRPr lang="en-US" sz="1800" dirty="0"/>
          </a:p>
        </p:txBody>
      </p:sp>
      <p:sp>
        <p:nvSpPr>
          <p:cNvPr id="26" name="text-103"/>
          <p:cNvSpPr txBox="1"/>
          <p:nvPr/>
        </p:nvSpPr>
        <p:spPr>
          <a:xfrm>
            <a:off x="6858000" y="53675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Recipe 별 측정 이력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이후 과제</a:t>
            </a:r>
            <a:endParaRPr lang="en-US" sz="4000" dirty="0"/>
          </a:p>
        </p:txBody>
      </p:sp>
      <p:sp>
        <p:nvSpPr>
          <p:cNvPr id="3" name="dot-104"/>
          <p:cNvSpPr/>
          <p:nvPr/>
        </p:nvSpPr>
        <p:spPr>
          <a:xfrm>
            <a:off x="731520" y="18288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text-105"/>
          <p:cNvSpPr txBox="1"/>
          <p:nvPr/>
        </p:nvSpPr>
        <p:spPr>
          <a:xfrm>
            <a:off x="1417320" y="17830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디바이스명 설명 스크립트 표준화 마무리</a:t>
            </a:r>
            <a:endParaRPr lang="en-US" sz="2600" dirty="0"/>
          </a:p>
        </p:txBody>
      </p:sp>
      <p:sp>
        <p:nvSpPr>
          <p:cNvPr id="5" name="text-106"/>
          <p:cNvSpPr txBox="1"/>
          <p:nvPr/>
        </p:nvSpPr>
        <p:spPr>
          <a:xfrm>
            <a:off x="1417320" y="23774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디바이스 통계의 룰 판정을 안정시킵니다.</a:t>
            </a:r>
            <a:endParaRPr lang="en-US" sz="1600" dirty="0"/>
          </a:p>
        </p:txBody>
      </p:sp>
      <p:sp>
        <p:nvSpPr>
          <p:cNvPr id="6" name="dot-107"/>
          <p:cNvSpPr/>
          <p:nvPr/>
        </p:nvSpPr>
        <p:spPr>
          <a:xfrm>
            <a:off x="731520" y="31089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7" name="text-108"/>
          <p:cNvSpPr txBox="1"/>
          <p:nvPr/>
        </p:nvSpPr>
        <p:spPr>
          <a:xfrm>
            <a:off x="1417320" y="30632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지원 장비 확대</a:t>
            </a:r>
            <a:endParaRPr lang="en-US" sz="2600" dirty="0"/>
          </a:p>
        </p:txBody>
      </p:sp>
      <p:sp>
        <p:nvSpPr>
          <p:cNvPr id="8" name="text-109"/>
          <p:cNvSpPr txBox="1"/>
          <p:nvPr/>
        </p:nvSpPr>
        <p:spPr>
          <a:xfrm>
            <a:off x="1417320" y="36576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VeritySEM · Provision · Thickness 로 넓혀 Metrology Workspace 통합을 이어 갑니다. VeritySEM · Provision 은 사전 조사를 시작했습니다.</a:t>
            </a:r>
            <a:endParaRPr lang="en-US" sz="1600" dirty="0"/>
          </a:p>
        </p:txBody>
      </p:sp>
      <p:sp>
        <p:nvSpPr>
          <p:cNvPr id="9" name="text-110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일평균 접속자 60~70명 · 인라인 교대 구성원 · 공정/소자 엔지니어 · 검/계측 효율화 TF</a:t>
            </a:r>
            <a:endParaRPr lang="en-US" sz="1400" dirty="0"/>
          </a:p>
        </p:txBody>
      </p:sp>
      <p:sp>
        <p:nvSpPr>
          <p:cNvPr id="10" name="item3-0"/>
          <p:cNvSpPr/>
          <p:nvPr/>
        </p:nvSpPr>
        <p:spPr>
          <a:xfrm>
            <a:off x="731520" y="43891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tem3-1"/>
          <p:cNvSpPr txBox="1"/>
          <p:nvPr/>
        </p:nvSpPr>
        <p:spPr>
          <a:xfrm>
            <a:off x="1417320" y="43434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Recipe 일괄 복사 도구</a:t>
            </a:r>
            <a:endParaRPr lang="en-US" sz="2600" dirty="0"/>
          </a:p>
        </p:txBody>
      </p:sp>
      <p:sp>
        <p:nvSpPr>
          <p:cNvPr id="12" name="item3-2"/>
          <p:cNvSpPr txBox="1"/>
          <p:nvPr/>
        </p:nvSpPr>
        <p:spPr>
          <a:xfrm>
            <a:off x="1417320" y="49377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여러 장비에 Recipe 를 한 번에 복사하는 별도 앱을 설계하고 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장비 파일을 FTP 프로그램 없이 엽니다</a:t>
            </a:r>
            <a:endParaRPr lang="en-US" sz="3600" dirty="0"/>
          </a:p>
        </p:txBody>
      </p:sp>
      <p:sp>
        <p:nvSpPr>
          <p:cNvPr id="3" name="text-80"/>
          <p:cNvSpPr txBox="1"/>
          <p:nvPr/>
        </p:nvSpPr>
        <p:spPr>
          <a:xfrm>
            <a:off x="548640" y="15087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2026-10-20 에 장비 상태 아래 FTP 접속 탭을 열었습니다. CD-SEM · HV-SEM 장비를 고르면 장비의 폴더와 파일을 스큐노노에서 바로 엽니다.</a:t>
            </a:r>
            <a:endParaRPr lang="en-US" sz="1500" dirty="0"/>
          </a:p>
        </p:txBody>
      </p:sp>
      <p:sp>
        <p:nvSpPr>
          <p:cNvPr id="4" name="text-81"/>
          <p:cNvSpPr txBox="1"/>
          <p:nvPr/>
        </p:nvSpPr>
        <p:spPr>
          <a:xfrm>
            <a:off x="548640" y="3154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대상 팀 5곳 · Metrology 엔지니어</a:t>
            </a:r>
            <a:endParaRPr lang="en-US" sz="1600" dirty="0"/>
          </a:p>
        </p:txBody>
      </p:sp>
      <p:sp>
        <p:nvSpPr>
          <p:cNvPr id="5" name="card-82"/>
          <p:cNvSpPr/>
          <p:nvPr/>
        </p:nvSpPr>
        <p:spPr>
          <a:xfrm>
            <a:off x="548640" y="3657600"/>
            <a:ext cx="48463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83"/>
          <p:cNvSpPr txBox="1"/>
          <p:nvPr/>
        </p:nvSpPr>
        <p:spPr>
          <a:xfrm>
            <a:off x="822960" y="36576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DRAM · NAND MI개발</a:t>
            </a:r>
            <a:endParaRPr lang="en-US" sz="1800" dirty="0"/>
          </a:p>
        </p:txBody>
      </p:sp>
      <p:sp>
        <p:nvSpPr>
          <p:cNvPr id="7" name="text-84"/>
          <p:cNvSpPr txBox="1"/>
          <p:nvPr/>
        </p:nvSpPr>
        <p:spPr>
          <a:xfrm>
            <a:off x="4480560" y="365760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2팀</a:t>
            </a:r>
            <a:endParaRPr lang="en-US" sz="1600" dirty="0"/>
          </a:p>
        </p:txBody>
      </p:sp>
      <p:sp>
        <p:nvSpPr>
          <p:cNvPr id="8" name="card-85"/>
          <p:cNvSpPr/>
          <p:nvPr/>
        </p:nvSpPr>
        <p:spPr>
          <a:xfrm>
            <a:off x="548640" y="4480560"/>
            <a:ext cx="48463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-86"/>
          <p:cNvSpPr txBox="1"/>
          <p:nvPr/>
        </p:nvSpPr>
        <p:spPr>
          <a:xfrm>
            <a:off x="822960" y="44805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DRAM · NAND Metrology기술</a:t>
            </a:r>
            <a:endParaRPr lang="en-US" sz="1800" dirty="0"/>
          </a:p>
        </p:txBody>
      </p:sp>
      <p:sp>
        <p:nvSpPr>
          <p:cNvPr id="10" name="text-87"/>
          <p:cNvSpPr txBox="1"/>
          <p:nvPr/>
        </p:nvSpPr>
        <p:spPr>
          <a:xfrm>
            <a:off x="4480560" y="448056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2팀</a:t>
            </a:r>
            <a:endParaRPr lang="en-US" sz="1600" dirty="0"/>
          </a:p>
        </p:txBody>
      </p:sp>
      <p:sp>
        <p:nvSpPr>
          <p:cNvPr id="11" name="card-88"/>
          <p:cNvSpPr/>
          <p:nvPr/>
        </p:nvSpPr>
        <p:spPr>
          <a:xfrm>
            <a:off x="548640" y="5303520"/>
            <a:ext cx="48463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89"/>
          <p:cNvSpPr txBox="1"/>
          <p:nvPr/>
        </p:nvSpPr>
        <p:spPr>
          <a:xfrm>
            <a:off x="822960" y="53035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기반기술전략</a:t>
            </a:r>
            <a:endParaRPr lang="en-US" sz="1800" dirty="0"/>
          </a:p>
        </p:txBody>
      </p:sp>
      <p:sp>
        <p:nvSpPr>
          <p:cNvPr id="13" name="text-90"/>
          <p:cNvSpPr txBox="1"/>
          <p:nvPr/>
        </p:nvSpPr>
        <p:spPr>
          <a:xfrm>
            <a:off x="4480560" y="530352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1팀</a:t>
            </a:r>
            <a:endParaRPr lang="en-US" sz="1600" dirty="0"/>
          </a:p>
        </p:txBody>
      </p:sp>
      <p:sp>
        <p:nvSpPr>
          <p:cNvPr id="14" name="card-91"/>
          <p:cNvSpPr/>
          <p:nvPr/>
        </p:nvSpPr>
        <p:spPr>
          <a:xfrm>
            <a:off x="5852160" y="1463040"/>
            <a:ext cx="5788152" cy="4663440"/>
          </a:xfrm>
          <a:prstGeom prst="roundRect">
            <a:avLst>
              <a:gd name="adj" fmla="val 2353"/>
            </a:avLst>
          </a:prstGeom>
          <a:solidFill>
            <a:srgbClr val="15110D"/>
          </a:solidFill>
          <a:ln w="12700">
            <a:solidFill>
              <a:srgbClr val="15110D"/>
            </a:solidFill>
            <a:prstDash val="solid"/>
          </a:ln>
        </p:spPr>
      </p:sp>
      <p:sp>
        <p:nvSpPr>
          <p:cNvPr id="15" name="dot-92"/>
          <p:cNvSpPr/>
          <p:nvPr/>
        </p:nvSpPr>
        <p:spPr>
          <a:xfrm>
            <a:off x="6217920" y="18288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-93"/>
          <p:cNvSpPr txBox="1"/>
          <p:nvPr/>
        </p:nvSpPr>
        <p:spPr>
          <a:xfrm>
            <a:off x="6858000" y="18105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탐색</a:t>
            </a:r>
            <a:endParaRPr lang="en-US" sz="1800" dirty="0"/>
          </a:p>
        </p:txBody>
      </p:sp>
      <p:sp>
        <p:nvSpPr>
          <p:cNvPr id="17" name="text-94"/>
          <p:cNvSpPr txBox="1"/>
          <p:nvPr/>
        </p:nvSpPr>
        <p:spPr>
          <a:xfrm>
            <a:off x="6858000" y="22128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폴더를 눌러 이동하거나 경로를 직접 입력</a:t>
            </a:r>
            <a:endParaRPr lang="en-US" sz="1400" dirty="0"/>
          </a:p>
        </p:txBody>
      </p:sp>
      <p:sp>
        <p:nvSpPr>
          <p:cNvPr id="18" name="dot-95"/>
          <p:cNvSpPr/>
          <p:nvPr/>
        </p:nvSpPr>
        <p:spPr>
          <a:xfrm>
            <a:off x="6217920" y="28803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-96"/>
          <p:cNvSpPr txBox="1"/>
          <p:nvPr/>
        </p:nvSpPr>
        <p:spPr>
          <a:xfrm>
            <a:off x="6858000" y="28620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다운로드</a:t>
            </a:r>
            <a:endParaRPr lang="en-US" sz="1800" dirty="0"/>
          </a:p>
        </p:txBody>
      </p:sp>
      <p:sp>
        <p:nvSpPr>
          <p:cNvPr id="20" name="text-97"/>
          <p:cNvSpPr txBox="1"/>
          <p:nvPr/>
        </p:nvSpPr>
        <p:spPr>
          <a:xfrm>
            <a:off x="6858000" y="3264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파일 하나씩, 여러 개는 zip 한 개로</a:t>
            </a:r>
            <a:endParaRPr lang="en-US" sz="1400" dirty="0"/>
          </a:p>
        </p:txBody>
      </p:sp>
      <p:sp>
        <p:nvSpPr>
          <p:cNvPr id="21" name="dot-98"/>
          <p:cNvSpPr/>
          <p:nvPr/>
        </p:nvSpPr>
        <p:spPr>
          <a:xfrm>
            <a:off x="6217920" y="39319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-99"/>
          <p:cNvSpPr txBox="1"/>
          <p:nvPr/>
        </p:nvSpPr>
        <p:spPr>
          <a:xfrm>
            <a:off x="6858000" y="39136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링크 공유</a:t>
            </a:r>
            <a:endParaRPr lang="en-US" sz="1800" dirty="0"/>
          </a:p>
        </p:txBody>
      </p:sp>
      <p:sp>
        <p:nvSpPr>
          <p:cNvPr id="23" name="text-100"/>
          <p:cNvSpPr txBox="1"/>
          <p:nvPr/>
        </p:nvSpPr>
        <p:spPr>
          <a:xfrm>
            <a:off x="6858000" y="43159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주소에 장비와 경로가 담겨 그대로 공유</a:t>
            </a:r>
            <a:endParaRPr lang="en-US" sz="1400" dirty="0"/>
          </a:p>
        </p:txBody>
      </p:sp>
      <p:sp>
        <p:nvSpPr>
          <p:cNvPr id="24" name="dot-101"/>
          <p:cNvSpPr/>
          <p:nvPr/>
        </p:nvSpPr>
        <p:spPr>
          <a:xfrm>
            <a:off x="6217920" y="498348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-102"/>
          <p:cNvSpPr txBox="1"/>
          <p:nvPr/>
        </p:nvSpPr>
        <p:spPr>
          <a:xfrm>
            <a:off x="6858000" y="49651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안정성</a:t>
            </a:r>
            <a:endParaRPr lang="en-US" sz="1800" dirty="0"/>
          </a:p>
        </p:txBody>
      </p:sp>
      <p:sp>
        <p:nvSpPr>
          <p:cNvPr id="26" name="text-103"/>
          <p:cNvSpPr txBox="1"/>
          <p:nvPr/>
        </p:nvSpPr>
        <p:spPr>
          <a:xfrm>
            <a:off x="6858000" y="53675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동시 다운로드 · FTP 세션 수 제한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10월, 화면 값의 정확도를 높였습니다</a:t>
            </a:r>
            <a:endParaRPr lang="en-US" sz="3600" dirty="0"/>
          </a:p>
        </p:txBody>
      </p:sp>
      <p:sp>
        <p:nvSpPr>
          <p:cNvPr id="3" name="text-59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보고 이후 현업 문의를 바탕으로 고친 내용입니다</a:t>
            </a:r>
            <a:endParaRPr lang="en-US" sz="1600" dirty="0"/>
          </a:p>
        </p:txBody>
      </p:sp>
      <p:sp>
        <p:nvSpPr>
          <p:cNvPr id="4" name="card-60"/>
          <p:cNvSpPr/>
          <p:nvPr/>
        </p:nvSpPr>
        <p:spPr>
          <a:xfrm>
            <a:off x="548640" y="2011680"/>
            <a:ext cx="541324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ot-61"/>
          <p:cNvSpPr/>
          <p:nvPr/>
        </p:nvSpPr>
        <p:spPr>
          <a:xfrm>
            <a:off x="822960" y="22860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-62"/>
          <p:cNvSpPr txBox="1"/>
          <p:nvPr/>
        </p:nvSpPr>
        <p:spPr>
          <a:xfrm>
            <a:off x="1417320" y="228600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디바이스 통계</a:t>
            </a:r>
            <a:endParaRPr lang="en-US" sz="2000" dirty="0"/>
          </a:p>
        </p:txBody>
      </p:sp>
      <p:sp>
        <p:nvSpPr>
          <p:cNvPr id="7" name="text-63"/>
          <p:cNvSpPr txBox="1"/>
          <p:nvPr/>
        </p:nvSpPr>
        <p:spPr>
          <a:xfrm>
            <a:off x="1417320" y="2788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안 보이는 원인을 화면에서 구분</a:t>
            </a:r>
            <a:endParaRPr lang="en-US" sz="1400" dirty="0"/>
          </a:p>
        </p:txBody>
      </p:sp>
      <p:sp>
        <p:nvSpPr>
          <p:cNvPr id="8" name="text-64"/>
          <p:cNvSpPr txBox="1"/>
          <p:nvPr/>
        </p:nvSpPr>
        <p:spPr>
          <a:xfrm>
            <a:off x="141732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저장된 필터 적용 중 · 스텝 원본 자료 없음 표시, R 계열 DRAM/NAND 구분 누락 수정</a:t>
            </a:r>
            <a:endParaRPr lang="en-US" sz="1400" dirty="0"/>
          </a:p>
        </p:txBody>
      </p:sp>
      <p:sp>
        <p:nvSpPr>
          <p:cNvPr id="9" name="card-65"/>
          <p:cNvSpPr/>
          <p:nvPr/>
        </p:nvSpPr>
        <p:spPr>
          <a:xfrm>
            <a:off x="6227064" y="2011680"/>
            <a:ext cx="541324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ot-66"/>
          <p:cNvSpPr/>
          <p:nvPr/>
        </p:nvSpPr>
        <p:spPr>
          <a:xfrm>
            <a:off x="6501384" y="22860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-67"/>
          <p:cNvSpPr txBox="1"/>
          <p:nvPr/>
        </p:nvSpPr>
        <p:spPr>
          <a:xfrm>
            <a:off x="7095744" y="228600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Recipe 횡전개</a:t>
            </a:r>
            <a:endParaRPr lang="en-US" sz="2000" dirty="0"/>
          </a:p>
        </p:txBody>
      </p:sp>
      <p:sp>
        <p:nvSpPr>
          <p:cNvPr id="12" name="text-68"/>
          <p:cNvSpPr txBox="1"/>
          <p:nvPr/>
        </p:nvSpPr>
        <p:spPr>
          <a:xfrm>
            <a:off x="7095744" y="2788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보유 판정 원본 수정</a:t>
            </a:r>
            <a:endParaRPr lang="en-US" sz="1400" dirty="0"/>
          </a:p>
        </p:txBody>
      </p:sp>
      <p:sp>
        <p:nvSpPr>
          <p:cNvPr id="13" name="text-69"/>
          <p:cNvSpPr txBox="1"/>
          <p:nvPr/>
        </p:nvSpPr>
        <p:spPr>
          <a:xfrm>
            <a:off x="7095744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최근 측정하지 않은 장비도 보유로 표시, 점검 실패 장비는 확인 불가 배지</a:t>
            </a:r>
            <a:endParaRPr lang="en-US" sz="1400" dirty="0"/>
          </a:p>
        </p:txBody>
      </p:sp>
      <p:sp>
        <p:nvSpPr>
          <p:cNvPr id="14" name="card-70"/>
          <p:cNvSpPr/>
          <p:nvPr/>
        </p:nvSpPr>
        <p:spPr>
          <a:xfrm>
            <a:off x="548640" y="4114800"/>
            <a:ext cx="541324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dot-71"/>
          <p:cNvSpPr/>
          <p:nvPr/>
        </p:nvSpPr>
        <p:spPr>
          <a:xfrm>
            <a:off x="822960" y="43891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-72"/>
          <p:cNvSpPr txBox="1"/>
          <p:nvPr/>
        </p:nvSpPr>
        <p:spPr>
          <a:xfrm>
            <a:off x="1417320" y="438912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Recipe 현황</a:t>
            </a:r>
            <a:endParaRPr lang="en-US" sz="2000" dirty="0"/>
          </a:p>
        </p:txBody>
      </p:sp>
      <p:sp>
        <p:nvSpPr>
          <p:cNvPr id="17" name="text-73"/>
          <p:cNvSpPr txBox="1"/>
          <p:nvPr/>
        </p:nvSpPr>
        <p:spPr>
          <a:xfrm>
            <a:off x="1417320" y="4892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데이터 누락 수정</a:t>
            </a:r>
            <a:endParaRPr lang="en-US" sz="1400" dirty="0"/>
          </a:p>
        </p:txBody>
      </p:sp>
      <p:sp>
        <p:nvSpPr>
          <p:cNvPr id="18" name="text-74"/>
          <p:cNvSpPr txBox="1"/>
          <p:nvPr/>
        </p:nvSpPr>
        <p:spPr>
          <a:xfrm>
            <a:off x="1417320" y="5257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이력이 많은 조회에서 결과가 빠지거나 응답이 끊기던 문제 해결</a:t>
            </a:r>
            <a:endParaRPr lang="en-US" sz="1400" dirty="0"/>
          </a:p>
        </p:txBody>
      </p:sp>
      <p:sp>
        <p:nvSpPr>
          <p:cNvPr id="19" name="card-75"/>
          <p:cNvSpPr/>
          <p:nvPr/>
        </p:nvSpPr>
        <p:spPr>
          <a:xfrm>
            <a:off x="6227064" y="4114800"/>
            <a:ext cx="541324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dot-76"/>
          <p:cNvSpPr/>
          <p:nvPr/>
        </p:nvSpPr>
        <p:spPr>
          <a:xfrm>
            <a:off x="6501384" y="43891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-77"/>
          <p:cNvSpPr txBox="1"/>
          <p:nvPr/>
        </p:nvSpPr>
        <p:spPr>
          <a:xfrm>
            <a:off x="7095744" y="438912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AFM · 운영</a:t>
            </a:r>
            <a:endParaRPr lang="en-US" sz="2000" dirty="0"/>
          </a:p>
        </p:txBody>
      </p:sp>
      <p:sp>
        <p:nvSpPr>
          <p:cNvPr id="22" name="text-78"/>
          <p:cNvSpPr txBox="1"/>
          <p:nvPr/>
        </p:nvSpPr>
        <p:spPr>
          <a:xfrm>
            <a:off x="7095744" y="4892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응답 경량화 · 로그 보강</a:t>
            </a:r>
            <a:endParaRPr lang="en-US" sz="1400" dirty="0"/>
          </a:p>
        </p:txBody>
      </p:sp>
      <p:sp>
        <p:nvSpPr>
          <p:cNvPr id="23" name="text-79"/>
          <p:cNvSpPr txBox="1"/>
          <p:nvPr/>
        </p:nvSpPr>
        <p:spPr>
          <a:xfrm>
            <a:off x="7095744" y="5257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AFM 측정 목록 응답 경량화, 요청 로그에 오류 원인과 호출 화면 기록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코드 24.9만 줄, 셋 중 하나는 테스트입니다</a:t>
            </a:r>
            <a:endParaRPr lang="en-US" sz="3600" dirty="0"/>
          </a:p>
        </p:txBody>
      </p:sp>
      <p:sp>
        <p:nvSpPr>
          <p:cNvPr id="3" name="card-3"/>
          <p:cNvSpPr/>
          <p:nvPr/>
        </p:nvSpPr>
        <p:spPr>
          <a:xfrm>
            <a:off x="548640" y="150876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15110D"/>
          </a:solidFill>
          <a:ln w="12700">
            <a:solidFill>
              <a:srgbClr val="15110D"/>
            </a:solidFill>
            <a:prstDash val="solid"/>
          </a:ln>
        </p:spPr>
      </p:sp>
      <p:sp>
        <p:nvSpPr>
          <p:cNvPr id="4" name="text-4"/>
          <p:cNvSpPr txBox="1"/>
          <p:nvPr/>
        </p:nvSpPr>
        <p:spPr>
          <a:xfrm>
            <a:off x="822960" y="16916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24.9만 줄</a:t>
            </a:r>
            <a:endParaRPr lang="en-US" sz="4800" dirty="0"/>
          </a:p>
        </p:txBody>
      </p:sp>
      <p:sp>
        <p:nvSpPr>
          <p:cNvPr id="5" name="text-5"/>
          <p:cNvSpPr txBox="1"/>
          <p:nvPr/>
        </p:nvSpPr>
        <p:spPr>
          <a:xfrm>
            <a:off x="82296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전체 코드</a:t>
            </a:r>
            <a:endParaRPr lang="en-US" sz="1800" dirty="0"/>
          </a:p>
        </p:txBody>
      </p:sp>
      <p:sp>
        <p:nvSpPr>
          <p:cNvPr id="6" name="text-6"/>
          <p:cNvSpPr txBox="1"/>
          <p:nvPr/>
        </p:nvSpPr>
        <p:spPr>
          <a:xfrm>
            <a:off x="822960" y="3063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원본 복사 모듈 13,300줄 포함</a:t>
            </a:r>
            <a:endParaRPr lang="en-US" sz="1400" dirty="0"/>
          </a:p>
        </p:txBody>
      </p:sp>
      <p:sp>
        <p:nvSpPr>
          <p:cNvPr id="7" name="card-7"/>
          <p:cNvSpPr/>
          <p:nvPr/>
        </p:nvSpPr>
        <p:spPr>
          <a:xfrm>
            <a:off x="4334256" y="150876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8"/>
          <p:cNvSpPr txBox="1"/>
          <p:nvPr/>
        </p:nvSpPr>
        <p:spPr>
          <a:xfrm>
            <a:off x="4608576" y="16916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+25%</a:t>
            </a:r>
            <a:endParaRPr lang="en-US" sz="4800" dirty="0"/>
          </a:p>
        </p:txBody>
      </p:sp>
      <p:sp>
        <p:nvSpPr>
          <p:cNvPr id="9" name="text-9"/>
          <p:cNvSpPr txBox="1"/>
          <p:nvPr/>
        </p:nvSpPr>
        <p:spPr>
          <a:xfrm>
            <a:off x="4608576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직접 작성 코드 증가</a:t>
            </a:r>
            <a:endParaRPr lang="en-US" sz="1800" dirty="0"/>
          </a:p>
        </p:txBody>
      </p:sp>
      <p:sp>
        <p:nvSpPr>
          <p:cNvPr id="10" name="text-10"/>
          <p:cNvSpPr txBox="1"/>
          <p:nvPr/>
        </p:nvSpPr>
        <p:spPr>
          <a:xfrm>
            <a:off x="4608576" y="3063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8/18 188,345줄 → 235,530줄</a:t>
            </a:r>
            <a:endParaRPr lang="en-US" sz="1400" dirty="0"/>
          </a:p>
        </p:txBody>
      </p:sp>
      <p:sp>
        <p:nvSpPr>
          <p:cNvPr id="11" name="card-11"/>
          <p:cNvSpPr/>
          <p:nvPr/>
        </p:nvSpPr>
        <p:spPr>
          <a:xfrm>
            <a:off x="8119872" y="150876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12"/>
          <p:cNvSpPr txBox="1"/>
          <p:nvPr/>
        </p:nvSpPr>
        <p:spPr>
          <a:xfrm>
            <a:off x="8394192" y="16916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33%</a:t>
            </a:r>
            <a:endParaRPr lang="en-US" sz="4800" dirty="0"/>
          </a:p>
        </p:txBody>
      </p:sp>
      <p:sp>
        <p:nvSpPr>
          <p:cNvPr id="13" name="text-13"/>
          <p:cNvSpPr txBox="1"/>
          <p:nvPr/>
        </p:nvSpPr>
        <p:spPr>
          <a:xfrm>
            <a:off x="8394192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테스트 코드 비중</a:t>
            </a:r>
            <a:endParaRPr lang="en-US" sz="1800" dirty="0"/>
          </a:p>
        </p:txBody>
      </p:sp>
      <p:sp>
        <p:nvSpPr>
          <p:cNvPr id="14" name="text-14"/>
          <p:cNvSpPr txBox="1"/>
          <p:nvPr/>
        </p:nvSpPr>
        <p:spPr>
          <a:xfrm>
            <a:off x="8394192" y="3063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테스트 77,031줄</a:t>
            </a:r>
            <a:endParaRPr lang="en-US" sz="1400" dirty="0"/>
          </a:p>
        </p:txBody>
      </p:sp>
      <p:sp>
        <p:nvSpPr>
          <p:cNvPr id="15" name="dot-15"/>
          <p:cNvSpPr/>
          <p:nvPr/>
        </p:nvSpPr>
        <p:spPr>
          <a:xfrm>
            <a:off x="548640" y="38862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-16"/>
          <p:cNvSpPr txBox="1"/>
          <p:nvPr/>
        </p:nvSpPr>
        <p:spPr>
          <a:xfrm>
            <a:off x="1143000" y="38862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프론트엔드</a:t>
            </a:r>
            <a:endParaRPr lang="en-US" sz="1600" dirty="0"/>
          </a:p>
        </p:txBody>
      </p:sp>
      <p:sp>
        <p:nvSpPr>
          <p:cNvPr id="17" name="text-17"/>
          <p:cNvSpPr txBox="1"/>
          <p:nvPr/>
        </p:nvSpPr>
        <p:spPr>
          <a:xfrm>
            <a:off x="3566160" y="388620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93,635줄</a:t>
            </a:r>
            <a:endParaRPr lang="en-US" sz="1400" dirty="0"/>
          </a:p>
        </p:txBody>
      </p:sp>
      <p:sp>
        <p:nvSpPr>
          <p:cNvPr id="18" name="text-18"/>
          <p:cNvSpPr txBox="1"/>
          <p:nvPr/>
        </p:nvSpPr>
        <p:spPr>
          <a:xfrm>
            <a:off x="6263640" y="3886200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화면 63개 · 컴포넌트 272개</a:t>
            </a:r>
            <a:endParaRPr lang="en-US" sz="1400" dirty="0"/>
          </a:p>
        </p:txBody>
      </p:sp>
      <p:sp>
        <p:nvSpPr>
          <p:cNvPr id="19" name="dot-19"/>
          <p:cNvSpPr/>
          <p:nvPr/>
        </p:nvSpPr>
        <p:spPr>
          <a:xfrm>
            <a:off x="548640" y="43616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-20"/>
          <p:cNvSpPr txBox="1"/>
          <p:nvPr/>
        </p:nvSpPr>
        <p:spPr>
          <a:xfrm>
            <a:off x="1143000" y="436168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백엔드</a:t>
            </a:r>
            <a:endParaRPr lang="en-US" sz="1600" dirty="0"/>
          </a:p>
        </p:txBody>
      </p:sp>
      <p:sp>
        <p:nvSpPr>
          <p:cNvPr id="21" name="text-21"/>
          <p:cNvSpPr txBox="1"/>
          <p:nvPr/>
        </p:nvSpPr>
        <p:spPr>
          <a:xfrm>
            <a:off x="3566160" y="436168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64,864줄</a:t>
            </a:r>
            <a:endParaRPr lang="en-US" sz="1400" dirty="0"/>
          </a:p>
        </p:txBody>
      </p:sp>
      <p:sp>
        <p:nvSpPr>
          <p:cNvPr id="22" name="text-22"/>
          <p:cNvSpPr txBox="1"/>
          <p:nvPr/>
        </p:nvSpPr>
        <p:spPr>
          <a:xfrm>
            <a:off x="6263640" y="4361688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API 엔드포인트 113개 · 운영 스크립트 9,599줄 포함</a:t>
            </a:r>
            <a:endParaRPr lang="en-US" sz="1400" dirty="0"/>
          </a:p>
        </p:txBody>
      </p:sp>
      <p:sp>
        <p:nvSpPr>
          <p:cNvPr id="23" name="dot-23"/>
          <p:cNvSpPr/>
          <p:nvPr/>
        </p:nvSpPr>
        <p:spPr>
          <a:xfrm>
            <a:off x="548640" y="483717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-24"/>
          <p:cNvSpPr txBox="1"/>
          <p:nvPr/>
        </p:nvSpPr>
        <p:spPr>
          <a:xfrm>
            <a:off x="1143000" y="48371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백엔드 테스트</a:t>
            </a:r>
            <a:endParaRPr lang="en-US" sz="1600" dirty="0"/>
          </a:p>
        </p:txBody>
      </p:sp>
      <p:sp>
        <p:nvSpPr>
          <p:cNvPr id="25" name="text-25"/>
          <p:cNvSpPr txBox="1"/>
          <p:nvPr/>
        </p:nvSpPr>
        <p:spPr>
          <a:xfrm>
            <a:off x="3566160" y="483717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51,681줄</a:t>
            </a:r>
            <a:endParaRPr lang="en-US" sz="1400" dirty="0"/>
          </a:p>
        </p:txBody>
      </p:sp>
      <p:sp>
        <p:nvSpPr>
          <p:cNvPr id="26" name="text-26"/>
          <p:cNvSpPr txBox="1"/>
          <p:nvPr/>
        </p:nvSpPr>
        <p:spPr>
          <a:xfrm>
            <a:off x="6263640" y="4837176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기능별 provider 계약 테스트와 통합 테스트</a:t>
            </a:r>
            <a:endParaRPr lang="en-US" sz="1400" dirty="0"/>
          </a:p>
        </p:txBody>
      </p:sp>
      <p:sp>
        <p:nvSpPr>
          <p:cNvPr id="27" name="dot-27"/>
          <p:cNvSpPr/>
          <p:nvPr/>
        </p:nvSpPr>
        <p:spPr>
          <a:xfrm>
            <a:off x="548640" y="531266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-28"/>
          <p:cNvSpPr txBox="1"/>
          <p:nvPr/>
        </p:nvSpPr>
        <p:spPr>
          <a:xfrm>
            <a:off x="1143000" y="531266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프론트 테스트</a:t>
            </a:r>
            <a:endParaRPr lang="en-US" sz="1600" dirty="0"/>
          </a:p>
        </p:txBody>
      </p:sp>
      <p:sp>
        <p:nvSpPr>
          <p:cNvPr id="29" name="text-29"/>
          <p:cNvSpPr txBox="1"/>
          <p:nvPr/>
        </p:nvSpPr>
        <p:spPr>
          <a:xfrm>
            <a:off x="3566160" y="531266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25,350줄</a:t>
            </a:r>
            <a:endParaRPr lang="en-US" sz="1400" dirty="0"/>
          </a:p>
        </p:txBody>
      </p:sp>
      <p:sp>
        <p:nvSpPr>
          <p:cNvPr id="30" name="text-30"/>
          <p:cNvSpPr txBox="1"/>
          <p:nvPr/>
        </p:nvSpPr>
        <p:spPr>
          <a:xfrm>
            <a:off x="6263640" y="5312664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순수 함수 단위 테스트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31" name="row5-0"/>
          <p:cNvSpPr/>
          <p:nvPr/>
        </p:nvSpPr>
        <p:spPr>
          <a:xfrm>
            <a:off x="548640" y="578815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row5-1"/>
          <p:cNvSpPr txBox="1"/>
          <p:nvPr/>
        </p:nvSpPr>
        <p:spPr>
          <a:xfrm>
            <a:off x="1143000" y="57881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원본 복사 모듈</a:t>
            </a:r>
            <a:endParaRPr lang="en-US" sz="1600" dirty="0"/>
          </a:p>
        </p:txBody>
      </p:sp>
      <p:sp>
        <p:nvSpPr>
          <p:cNvPr id="33" name="row5-2"/>
          <p:cNvSpPr txBox="1"/>
          <p:nvPr/>
        </p:nvSpPr>
        <p:spPr>
          <a:xfrm>
            <a:off x="3566160" y="578815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13,300줄</a:t>
            </a:r>
            <a:endParaRPr lang="en-US" sz="1400" dirty="0"/>
          </a:p>
        </p:txBody>
      </p:sp>
      <p:sp>
        <p:nvSpPr>
          <p:cNvPr id="34" name="row5-3"/>
          <p:cNvSpPr txBox="1"/>
          <p:nvPr/>
        </p:nvSpPr>
        <p:spPr>
          <a:xfrm>
            <a:off x="6263640" y="5788152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ftp_handler · minio_handler · ops_store · ops_index_mgmt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EWNONO">
  <a:themeElements>
    <a:clrScheme name="SKEWNONO">
      <a:dk1>
        <a:srgbClr val="15110D"/>
      </a:dk1>
      <a:lt1>
        <a:srgbClr val="FFFFFF"/>
      </a:lt1>
      <a:dk2>
        <a:srgbClr val="5C534A"/>
      </a:dk2>
      <a:lt2>
        <a:srgbClr val="F3F1EE"/>
      </a:lt2>
      <a:accent1>
        <a:srgbClr val="C75A3C"/>
      </a:accent1>
      <a:accent2>
        <a:srgbClr val="8A3D27"/>
      </a:accent2>
      <a:accent3>
        <a:srgbClr val="F3DCD2"/>
      </a:accent3>
      <a:accent4>
        <a:srgbClr val="3F7D4E"/>
      </a:accent4>
      <a:accent5>
        <a:srgbClr val="9A9088"/>
      </a:accent5>
      <a:accent6>
        <a:srgbClr val="E3DED8"/>
      </a:accent6>
      <a:hlink>
        <a:srgbClr val="C75A3C"/>
      </a:hlink>
      <a:folHlink>
        <a:srgbClr val="8A3D27"/>
      </a:folHlink>
    </a:clrScheme>
    <a:fontScheme name="SKEWNONO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SKEWNONO 2026년 성과 보고</dc:title>
  <dc:subject>PptxGenJS Presentation</dc:subject>
  <dc:creator>PptxGenJS</dc:creator>
  <cp:lastModifiedBy>PptxGenJS</cp:lastModifiedBy>
  <cp:revision>1</cp:revision>
  <dcterms:created xsi:type="dcterms:W3CDTF">2026-10-09T06:52:33Z</dcterms:created>
  <dcterms:modified xsi:type="dcterms:W3CDTF">2026-10-09T06:52:33Z</dcterms:modified>
</cp:coreProperties>
</file>