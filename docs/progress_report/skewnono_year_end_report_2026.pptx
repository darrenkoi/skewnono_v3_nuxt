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16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0f9c606-bfcb-096a-e3d8-0ffb124f7386}">
          <p14:sldIdLst>
            <p14:sldId id="256"/>
          </p14:sldIdLst>
        </p14:section>
        <p14:section name="요약" id="{cb9a74b8-c4d1-4f9c-9330-3e9b364c7979}">
          <p14:sldIdLst>
            <p14:sldId id="257"/>
          </p14:sldIdLst>
        </p14:section>
        <p14:section name="성과" id="{dbfa6e45-04c6-6984-d50a-5461975f9e6e}">
          <p14:sldIdLst>
            <p14:sldId id="258"/>
            <p14:sldId id="259"/>
            <p14:sldId id="260"/>
            <p14:sldId id="261"/>
          </p14:sldIdLst>
        </p14:section>
        <p14:section name="이후 과제" id="{9916543f-709b-8187-1260-72937125b281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
  <Relationship Id="rId16" Type="http://schemas.openxmlformats.org/officeDocument/2006/relationships/slide" Target="slides/slide1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SKEWNONO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METROLOGY WORKSPACE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SKEWNONO 2026년 성과 보고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52044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조회 도구에서 현업이 매일 쓰는 계측 업무 서비스로</a:t>
            </a:r>
            <a:endParaRPr lang="en-US" sz="2200" dirty="0"/>
          </a:p>
        </p:txBody>
      </p:sp>
      <p:sp>
        <p:nvSpPr>
          <p:cNvPr id="5" name="text-2"/>
          <p:cNvSpPr txBox="1"/>
          <p:nvPr/>
        </p:nvSpPr>
        <p:spPr>
          <a:xfrm>
            <a:off x="731520" y="5943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2026-10-09 · 갱신 2026-10-21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현업이 매일 쓰는 계측 서비스가 되었습니다</a:t>
            </a:r>
            <a:endParaRPr lang="en-US" sz="3600" dirty="0"/>
          </a:p>
        </p:txBody>
      </p:sp>
      <p:sp>
        <p:nvSpPr>
          <p:cNvPr id="3" name="card-3"/>
          <p:cNvSpPr/>
          <p:nvPr/>
        </p:nvSpPr>
        <p:spPr>
          <a:xfrm>
            <a:off x="548640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4" name="text-4"/>
          <p:cNvSpPr txBox="1"/>
          <p:nvPr/>
        </p:nvSpPr>
        <p:spPr>
          <a:xfrm>
            <a:off x="822960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60~70명</a:t>
            </a:r>
            <a:endParaRPr lang="en-US" sz="4800" dirty="0"/>
          </a:p>
        </p:txBody>
      </p:sp>
      <p:sp>
        <p:nvSpPr>
          <p:cNvPr id="5" name="text-5"/>
          <p:cNvSpPr txBox="1"/>
          <p:nvPr/>
        </p:nvSpPr>
        <p:spPr>
          <a:xfrm>
            <a:off x="822960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일평균 접속자</a:t>
            </a:r>
            <a:endParaRPr lang="en-US" sz="1800" dirty="0"/>
          </a:p>
        </p:txBody>
      </p:sp>
      <p:sp>
        <p:nvSpPr>
          <p:cNvPr id="6" name="text-6"/>
          <p:cNvSpPr txBox="1"/>
          <p:nvPr/>
        </p:nvSpPr>
        <p:spPr>
          <a:xfrm>
            <a:off x="8229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인라인 교대 · 공정/소자 엔지니어 · TF</a:t>
            </a:r>
            <a:endParaRPr lang="en-US" sz="1400" dirty="0"/>
          </a:p>
        </p:txBody>
      </p:sp>
      <p:sp>
        <p:nvSpPr>
          <p:cNvPr id="7" name="card-7"/>
          <p:cNvSpPr/>
          <p:nvPr/>
        </p:nvSpPr>
        <p:spPr>
          <a:xfrm>
            <a:off x="4334256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8"/>
          <p:cNvSpPr txBox="1"/>
          <p:nvPr/>
        </p:nvSpPr>
        <p:spPr>
          <a:xfrm>
            <a:off x="4608576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10초 이내</a:t>
            </a:r>
            <a:endParaRPr lang="en-US" sz="4800" dirty="0"/>
          </a:p>
        </p:txBody>
      </p:sp>
      <p:sp>
        <p:nvSpPr>
          <p:cNvPr id="9" name="text-9"/>
          <p:cNvSpPr txBox="1"/>
          <p:nvPr/>
        </p:nvSpPr>
        <p:spPr>
          <a:xfrm>
            <a:off x="4608576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Align Fail 발견 시간</a:t>
            </a:r>
            <a:endParaRPr lang="en-US" sz="1800" dirty="0"/>
          </a:p>
        </p:txBody>
      </p:sp>
      <p:sp>
        <p:nvSpPr>
          <p:cNvPr id="10" name="text-10"/>
          <p:cNvSpPr txBox="1"/>
          <p:nvPr/>
        </p:nvSpPr>
        <p:spPr>
          <a:xfrm>
            <a:off x="4608576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이전에는 늦으면 4~5분</a:t>
            </a:r>
            <a:endParaRPr lang="en-US" sz="1400" dirty="0"/>
          </a:p>
        </p:txBody>
      </p:sp>
      <p:sp>
        <p:nvSpPr>
          <p:cNvPr id="11" name="card-11"/>
          <p:cNvSpPr/>
          <p:nvPr/>
        </p:nvSpPr>
        <p:spPr>
          <a:xfrm>
            <a:off x="8119872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12"/>
          <p:cNvSpPr txBox="1"/>
          <p:nvPr/>
        </p:nvSpPr>
        <p:spPr>
          <a:xfrm>
            <a:off x="8394192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10%</a:t>
            </a:r>
            <a:endParaRPr lang="en-US" sz="4800" dirty="0"/>
          </a:p>
        </p:txBody>
      </p:sp>
      <p:sp>
        <p:nvSpPr>
          <p:cNvPr id="13" name="text-13"/>
          <p:cNvSpPr txBox="1"/>
          <p:nvPr/>
        </p:nvSpPr>
        <p:spPr>
          <a:xfrm>
            <a:off x="8394192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전체 계측 시간 단축 (완료 시)</a:t>
            </a:r>
            <a:endParaRPr lang="en-US" sz="1800" dirty="0"/>
          </a:p>
        </p:txBody>
      </p:sp>
      <p:sp>
        <p:nvSpPr>
          <p:cNvPr id="14" name="text-14"/>
          <p:cNvSpPr txBox="1"/>
          <p:nvPr/>
        </p:nvSpPr>
        <p:spPr>
          <a:xfrm>
            <a:off x="8394192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포인트 감축 · 9월부터 진행 중</a:t>
            </a:r>
            <a:endParaRPr lang="en-US" sz="1400" dirty="0"/>
          </a:p>
        </p:txBody>
      </p:sp>
      <p:sp>
        <p:nvSpPr>
          <p:cNvPr id="15" name="dot-15"/>
          <p:cNvSpPr/>
          <p:nvPr/>
        </p:nvSpPr>
        <p:spPr>
          <a:xfrm>
            <a:off x="548640" y="3886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16"/>
          <p:cNvSpPr txBox="1"/>
          <p:nvPr/>
        </p:nvSpPr>
        <p:spPr>
          <a:xfrm>
            <a:off x="1143000" y="388620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디바이스 통계</a:t>
            </a:r>
            <a:endParaRPr lang="en-US" sz="1600" dirty="0"/>
          </a:p>
        </p:txBody>
      </p:sp>
      <p:sp>
        <p:nvSpPr>
          <p:cNvPr id="17" name="text-17"/>
          <p:cNvSpPr txBox="1"/>
          <p:nvPr/>
        </p:nvSpPr>
        <p:spPr>
          <a:xfrm>
            <a:off x="3566160" y="38862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검/계측 효율화 TF</a:t>
            </a:r>
            <a:endParaRPr lang="en-US" sz="1400" dirty="0"/>
          </a:p>
        </p:txBody>
      </p:sp>
      <p:sp>
        <p:nvSpPr>
          <p:cNvPr id="18" name="text-18"/>
          <p:cNvSpPr txBox="1"/>
          <p:nvPr/>
        </p:nvSpPr>
        <p:spPr>
          <a:xfrm>
            <a:off x="6263640" y="388620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계측 파라미터 · 포인트를 추적하는 유일한 수단</a:t>
            </a:r>
            <a:endParaRPr lang="en-US" sz="1400" dirty="0"/>
          </a:p>
        </p:txBody>
      </p:sp>
      <p:sp>
        <p:nvSpPr>
          <p:cNvPr id="19" name="dot-19"/>
          <p:cNvSpPr/>
          <p:nvPr/>
        </p:nvSpPr>
        <p:spPr>
          <a:xfrm>
            <a:off x="548640" y="43616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-20"/>
          <p:cNvSpPr txBox="1"/>
          <p:nvPr/>
        </p:nvSpPr>
        <p:spPr>
          <a:xfrm>
            <a:off x="1143000" y="43616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실시간 알람</a:t>
            </a:r>
            <a:endParaRPr lang="en-US" sz="1600" dirty="0"/>
          </a:p>
        </p:txBody>
      </p:sp>
      <p:sp>
        <p:nvSpPr>
          <p:cNvPr id="21" name="text-21"/>
          <p:cNvSpPr txBox="1"/>
          <p:nvPr/>
        </p:nvSpPr>
        <p:spPr>
          <a:xfrm>
            <a:off x="3566160" y="436168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인라인 교대 구성원</a:t>
            </a:r>
            <a:endParaRPr lang="en-US" sz="1400" dirty="0"/>
          </a:p>
        </p:txBody>
      </p:sp>
      <p:sp>
        <p:nvSpPr>
          <p:cNvPr id="22" name="text-22"/>
          <p:cNvSpPr txBox="1"/>
          <p:nvPr/>
        </p:nvSpPr>
        <p:spPr>
          <a:xfrm>
            <a:off x="6263640" y="436168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RCS CCTV 대신 실시간으로 Align Fail 확인</a:t>
            </a:r>
            <a:endParaRPr lang="en-US" sz="1400" dirty="0"/>
          </a:p>
        </p:txBody>
      </p:sp>
      <p:sp>
        <p:nvSpPr>
          <p:cNvPr id="23" name="dot-23"/>
          <p:cNvSpPr/>
          <p:nvPr/>
        </p:nvSpPr>
        <p:spPr>
          <a:xfrm>
            <a:off x="548640" y="483717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-24"/>
          <p:cNvSpPr txBox="1"/>
          <p:nvPr/>
        </p:nvSpPr>
        <p:spPr>
          <a:xfrm>
            <a:off x="1143000" y="48371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통합 조회</a:t>
            </a:r>
            <a:endParaRPr lang="en-US" sz="1600" dirty="0"/>
          </a:p>
        </p:txBody>
      </p:sp>
      <p:sp>
        <p:nvSpPr>
          <p:cNvPr id="25" name="text-25"/>
          <p:cNvSpPr txBox="1"/>
          <p:nvPr/>
        </p:nvSpPr>
        <p:spPr>
          <a:xfrm>
            <a:off x="3566160" y="48371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공정 · 소자 엔지니어</a:t>
            </a:r>
            <a:endParaRPr lang="en-US" sz="1400" dirty="0"/>
          </a:p>
        </p:txBody>
      </p:sp>
      <p:sp>
        <p:nvSpPr>
          <p:cNvPr id="26" name="text-26"/>
          <p:cNvSpPr txBox="1"/>
          <p:nvPr/>
        </p:nvSpPr>
        <p:spPr>
          <a:xfrm>
            <a:off x="6263640" y="483717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· 통계 · 결과 데이터를 한 서비스에서 조회</a:t>
            </a:r>
            <a:endParaRPr lang="en-US" sz="1400" dirty="0"/>
          </a:p>
        </p:txBody>
      </p:sp>
      <p:sp>
        <p:nvSpPr>
          <p:cNvPr id="27" name="dot-27"/>
          <p:cNvSpPr/>
          <p:nvPr/>
        </p:nvSpPr>
        <p:spPr>
          <a:xfrm>
            <a:off x="548640" y="53126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-28"/>
          <p:cNvSpPr txBox="1"/>
          <p:nvPr/>
        </p:nvSpPr>
        <p:spPr>
          <a:xfrm>
            <a:off x="1143000" y="53126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AFM 관리 툴</a:t>
            </a:r>
            <a:endParaRPr lang="en-US" sz="1600" dirty="0"/>
          </a:p>
        </p:txBody>
      </p:sp>
      <p:sp>
        <p:nvSpPr>
          <p:cNvPr id="29" name="text-29"/>
          <p:cNvSpPr txBox="1"/>
          <p:nvPr/>
        </p:nvSpPr>
        <p:spPr>
          <a:xfrm>
            <a:off x="3566160" y="53126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AFM 사용자</a:t>
            </a:r>
            <a:endParaRPr lang="en-US" sz="1400" dirty="0"/>
          </a:p>
        </p:txBody>
      </p:sp>
      <p:sp>
        <p:nvSpPr>
          <p:cNvPr id="30" name="text-30"/>
          <p:cNvSpPr txBox="1"/>
          <p:nvPr/>
        </p:nvSpPr>
        <p:spPr>
          <a:xfrm>
            <a:off x="6263640" y="531266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AFM 측정 조회와 관리를 스큐노노로 통합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디바이스 통계로 계측 시간을 10% 줄이고 있습니다</a:t>
            </a:r>
            <a:endParaRPr lang="en-US" sz="3600" dirty="0"/>
          </a:p>
        </p:txBody>
      </p:sp>
      <p:sp>
        <p:nvSpPr>
          <p:cNvPr id="3" name="text-31"/>
          <p:cNvSpPr txBox="1"/>
          <p:nvPr/>
        </p:nvSpPr>
        <p:spPr>
          <a:xfrm>
            <a:off x="548640" y="146304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검/계측 효율화 TF 지원</a:t>
            </a:r>
            <a:endParaRPr lang="en-US" sz="1400" dirty="0"/>
          </a:p>
        </p:txBody>
      </p:sp>
      <p:sp>
        <p:nvSpPr>
          <p:cNvPr id="4" name="text-32"/>
          <p:cNvSpPr txBox="1"/>
          <p:nvPr/>
        </p:nvSpPr>
        <p:spPr>
          <a:xfrm>
            <a:off x="548640" y="1828800"/>
            <a:ext cx="6309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효율화의 출발점은 디바이스마다 어떤 파라미터를 몇 포인트 재는지 아는 것입니다. 이를 추적 · 분석할 수 있는 수단은 스큐노노의 디바이스 통계 탭이 유일합니다.</a:t>
            </a:r>
            <a:endParaRPr lang="en-US" sz="1500" dirty="0"/>
          </a:p>
        </p:txBody>
      </p:sp>
      <p:sp>
        <p:nvSpPr>
          <p:cNvPr id="5" name="text-33"/>
          <p:cNvSpPr txBox="1"/>
          <p:nvPr/>
        </p:nvSpPr>
        <p:spPr>
          <a:xfrm>
            <a:off x="548640" y="28803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 계측 효율화 담당 엔지니어의 요구사항을 반영했습니다</a:t>
            </a:r>
            <a:endParaRPr lang="en-US" sz="1600" dirty="0"/>
          </a:p>
        </p:txBody>
      </p:sp>
      <p:sp>
        <p:nvSpPr>
          <p:cNvPr id="6" name="text-34"/>
          <p:cNvSpPr txBox="1"/>
          <p:nvPr/>
        </p:nvSpPr>
        <p:spPr>
          <a:xfrm>
            <a:off x="548640" y="333756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디바이스별 계측 활동 랭킹 · Top-N · 다중 비교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합의된 계측 룰 열람과 룰 준수 판정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lot health 신호등으로 살펴볼 lot 선별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주차별 스냅샷으로 계측량 추세 확인</a:t>
            </a:r>
            <a:endParaRPr lang="en-US" sz="1400" dirty="0"/>
          </a:p>
        </p:txBody>
      </p:sp>
      <p:sp>
        <p:nvSpPr>
          <p:cNvPr id="7" name="card-35"/>
          <p:cNvSpPr/>
          <p:nvPr/>
        </p:nvSpPr>
        <p:spPr>
          <a:xfrm>
            <a:off x="548640" y="5029200"/>
            <a:ext cx="6309360" cy="109728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-36"/>
          <p:cNvSpPr txBox="1"/>
          <p:nvPr/>
        </p:nvSpPr>
        <p:spPr>
          <a:xfrm>
            <a:off x="777240" y="51663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진행 중 · 스큐노노 &amp; Agent 가 일하기 적합한 환경으로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디바이스명 설명 스크립트를 표준화해 legacy 시스템의 룰을 바꾸고 있습니다. 표준화가 되면 Agent 가 계측 포인트를 직접 삭제할 수 있습니다.</a:t>
            </a:r>
            <a:endParaRPr lang="en-US" sz="1400" dirty="0"/>
          </a:p>
        </p:txBody>
      </p:sp>
      <p:sp>
        <p:nvSpPr>
          <p:cNvPr id="9" name="card-37"/>
          <p:cNvSpPr/>
          <p:nvPr/>
        </p:nvSpPr>
        <p:spPr>
          <a:xfrm>
            <a:off x="7223760" y="1463040"/>
            <a:ext cx="4416552" cy="4663440"/>
          </a:xfrm>
          <a:prstGeom prst="roundRect">
            <a:avLst>
              <a:gd name="adj" fmla="val 2484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0" name="text-38"/>
          <p:cNvSpPr txBox="1"/>
          <p:nvPr/>
        </p:nvSpPr>
        <p:spPr>
          <a:xfrm>
            <a:off x="7543800" y="1691640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10%</a:t>
            </a:r>
            <a:endParaRPr lang="en-US" sz="7200" dirty="0"/>
          </a:p>
        </p:txBody>
      </p:sp>
      <p:sp>
        <p:nvSpPr>
          <p:cNvPr id="11" name="text-39"/>
          <p:cNvSpPr txBox="1"/>
          <p:nvPr/>
        </p:nvSpPr>
        <p:spPr>
          <a:xfrm>
            <a:off x="7543800" y="28803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전체 계측 시간 단축 (완료 시)</a:t>
            </a:r>
            <a:endParaRPr lang="en-US" sz="2000" dirty="0"/>
          </a:p>
        </p:txBody>
      </p:sp>
      <p:sp>
        <p:nvSpPr>
          <p:cNvPr id="12" name="text-40"/>
          <p:cNvSpPr txBox="1"/>
          <p:nvPr/>
        </p:nvSpPr>
        <p:spPr>
          <a:xfrm>
            <a:off x="7543800" y="3520440"/>
            <a:ext cx="3749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수만 개 Recipe 중 과도 측정 Recipe 를 전부 모니터링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9월부터 계측 포인트 감축 진행 중, 완료되면 10% 단축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모든 디바이스가 표준에 맞게 계측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Align Fail 을 10초 안에 발견합니다</a:t>
            </a:r>
            <a:endParaRPr lang="en-US" sz="3600" dirty="0"/>
          </a:p>
        </p:txBody>
      </p:sp>
      <p:sp>
        <p:nvSpPr>
          <p:cNvPr id="3" name="card-41"/>
          <p:cNvSpPr/>
          <p:nvPr/>
        </p:nvSpPr>
        <p:spPr>
          <a:xfrm>
            <a:off x="548640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-42"/>
          <p:cNvSpPr txBox="1"/>
          <p:nvPr/>
        </p:nvSpPr>
        <p:spPr>
          <a:xfrm>
            <a:off x="868680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이전 · RCS CCTV</a:t>
            </a:r>
            <a:endParaRPr lang="en-US" sz="1400" dirty="0"/>
          </a:p>
        </p:txBody>
      </p:sp>
      <p:sp>
        <p:nvSpPr>
          <p:cNvPr id="5" name="text-43"/>
          <p:cNvSpPr txBox="1"/>
          <p:nvPr/>
        </p:nvSpPr>
        <p:spPr>
          <a:xfrm>
            <a:off x="868680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</a:rPr>
              <a:t>4~5분</a:t>
            </a:r>
            <a:endParaRPr lang="en-US" sz="6000" dirty="0"/>
          </a:p>
        </p:txBody>
      </p:sp>
      <p:sp>
        <p:nvSpPr>
          <p:cNvPr id="6" name="text-44"/>
          <p:cNvSpPr txBox="1"/>
          <p:nvPr/>
        </p:nvSpPr>
        <p:spPr>
          <a:xfrm>
            <a:off x="868680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늦으면 발견까지 걸리던 시간</a:t>
            </a:r>
            <a:endParaRPr lang="en-US" sz="1600" dirty="0"/>
          </a:p>
        </p:txBody>
      </p:sp>
      <p:sp>
        <p:nvSpPr>
          <p:cNvPr id="7" name="text-45"/>
          <p:cNvSpPr txBox="1"/>
          <p:nvPr/>
        </p:nvSpPr>
        <p:spPr>
          <a:xfrm>
            <a:off x="868680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매번 많은 장비의 CCTV 를 하나씩 확인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2"/>
                </a:solidFill>
              </a:rPr>
              <a:t>계속 지켜보아야 해 정신적 피로 누적</a:t>
            </a:r>
            <a:endParaRPr lang="en-US" sz="1400" dirty="0"/>
          </a:p>
        </p:txBody>
      </p:sp>
      <p:sp>
        <p:nvSpPr>
          <p:cNvPr id="8" name="card-46"/>
          <p:cNvSpPr/>
          <p:nvPr/>
        </p:nvSpPr>
        <p:spPr>
          <a:xfrm>
            <a:off x="6519672" y="1463040"/>
            <a:ext cx="5120640" cy="3429000"/>
          </a:xfrm>
          <a:prstGeom prst="roundRect">
            <a:avLst>
              <a:gd name="adj" fmla="val 3200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9" name="text-47"/>
          <p:cNvSpPr txBox="1"/>
          <p:nvPr/>
        </p:nvSpPr>
        <p:spPr>
          <a:xfrm>
            <a:off x="6839712" y="1691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현재 · 스큐노노 실시간 알람</a:t>
            </a:r>
            <a:endParaRPr lang="en-US" sz="1400" dirty="0"/>
          </a:p>
        </p:txBody>
      </p:sp>
      <p:sp>
        <p:nvSpPr>
          <p:cNvPr id="10" name="text-48"/>
          <p:cNvSpPr txBox="1"/>
          <p:nvPr/>
        </p:nvSpPr>
        <p:spPr>
          <a:xfrm>
            <a:off x="6839712" y="2057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</a:rPr>
              <a:t>10초 이내</a:t>
            </a:r>
            <a:endParaRPr lang="en-US" sz="6000" dirty="0"/>
          </a:p>
        </p:txBody>
      </p:sp>
      <p:sp>
        <p:nvSpPr>
          <p:cNvPr id="11" name="text-49"/>
          <p:cNvSpPr txBox="1"/>
          <p:nvPr/>
        </p:nvSpPr>
        <p:spPr>
          <a:xfrm>
            <a:off x="6839712" y="3108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Align Fail 발견 시간</a:t>
            </a:r>
            <a:endParaRPr lang="en-US" sz="1600" dirty="0"/>
          </a:p>
        </p:txBody>
      </p:sp>
      <p:sp>
        <p:nvSpPr>
          <p:cNvPr id="12" name="text-50"/>
          <p:cNvSpPr txBox="1"/>
          <p:nvPr/>
        </p:nvSpPr>
        <p:spPr>
          <a:xfrm>
            <a:off x="6839712" y="3611880"/>
            <a:ext cx="4480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Align Fail 발생 즉시 피드에 표시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accent6"/>
                </a:solidFill>
              </a:rPr>
              <a:t>알람이 온 장비만 확인</a:t>
            </a:r>
            <a:endParaRPr lang="en-US" sz="1400" dirty="0"/>
          </a:p>
        </p:txBody>
      </p:sp>
      <p:sp>
        <p:nvSpPr>
          <p:cNvPr id="13" name="arrow-51"/>
          <p:cNvSpPr/>
          <p:nvPr/>
        </p:nvSpPr>
        <p:spPr>
          <a:xfrm>
            <a:off x="5824728" y="2926080"/>
            <a:ext cx="539496" cy="45720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-52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지금은 인라인 교대 구성원이 알람을 보고 대응합니다 · 이후 Align Fail 자동 대응 Agent 가 대체할 예정입니다</a:t>
            </a:r>
            <a:endParaRPr lang="en-US" sz="1600" dirty="0"/>
          </a:p>
        </p:txBody>
      </p:sp>
      <p:sp>
        <p:nvSpPr>
          <p:cNvPr id="15" name="dot-53"/>
          <p:cNvSpPr/>
          <p:nvPr/>
        </p:nvSpPr>
        <p:spPr>
          <a:xfrm>
            <a:off x="548640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54"/>
          <p:cNvSpPr txBox="1"/>
          <p:nvPr/>
        </p:nvSpPr>
        <p:spPr>
          <a:xfrm>
            <a:off x="1097280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CD-SEM · HV-SEM 최근 20분 피드</a:t>
            </a:r>
            <a:endParaRPr lang="en-US" sz="1400" dirty="0"/>
          </a:p>
        </p:txBody>
      </p:sp>
      <p:sp>
        <p:nvSpPr>
          <p:cNvPr id="17" name="dot-55"/>
          <p:cNvSpPr/>
          <p:nvPr/>
        </p:nvSpPr>
        <p:spPr>
          <a:xfrm>
            <a:off x="4334256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text-56"/>
          <p:cNvSpPr txBox="1"/>
          <p:nvPr/>
        </p:nvSpPr>
        <p:spPr>
          <a:xfrm>
            <a:off x="4882896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미확인 건수를 브라우저 탭 제목에 표시</a:t>
            </a:r>
            <a:endParaRPr lang="en-US" sz="1400" dirty="0"/>
          </a:p>
        </p:txBody>
      </p:sp>
      <p:sp>
        <p:nvSpPr>
          <p:cNvPr id="19" name="dot-57"/>
          <p:cNvSpPr/>
          <p:nvPr/>
        </p:nvSpPr>
        <p:spPr>
          <a:xfrm>
            <a:off x="8119872" y="56235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ext-58"/>
          <p:cNvSpPr txBox="1"/>
          <p:nvPr/>
        </p:nvSpPr>
        <p:spPr>
          <a:xfrm>
            <a:off x="8668512" y="562356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Align 이미지와 십자선 오버레이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Recipe · 통계 · 결과를 한 곳에서 봅니다</a:t>
            </a:r>
            <a:endParaRPr lang="en-US" sz="3600" dirty="0"/>
          </a:p>
        </p:txBody>
      </p:sp>
      <p:sp>
        <p:nvSpPr>
          <p:cNvPr id="3" name="text-59"/>
          <p:cNvSpPr txBox="1"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함께 볼 수 있어 공정 · 소자 엔지니어가 많이 사용합니다</a:t>
            </a:r>
            <a:endParaRPr lang="en-US" sz="1600" dirty="0"/>
          </a:p>
        </p:txBody>
      </p:sp>
      <p:sp>
        <p:nvSpPr>
          <p:cNvPr id="4" name="card-60"/>
          <p:cNvSpPr/>
          <p:nvPr/>
        </p:nvSpPr>
        <p:spPr>
          <a:xfrm>
            <a:off x="548640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dot-61"/>
          <p:cNvSpPr/>
          <p:nvPr/>
        </p:nvSpPr>
        <p:spPr>
          <a:xfrm>
            <a:off x="822960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-62"/>
          <p:cNvSpPr txBox="1"/>
          <p:nvPr/>
        </p:nvSpPr>
        <p:spPr>
          <a:xfrm>
            <a:off x="1417320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Recipe 정보</a:t>
            </a:r>
            <a:endParaRPr lang="en-US" sz="2000" dirty="0"/>
          </a:p>
        </p:txBody>
      </p:sp>
      <p:sp>
        <p:nvSpPr>
          <p:cNvPr id="7" name="text-63"/>
          <p:cNvSpPr txBox="1"/>
          <p:nvPr/>
        </p:nvSpPr>
        <p:spPr>
          <a:xfrm>
            <a:off x="1417320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검색</a:t>
            </a:r>
            <a:endParaRPr lang="en-US" sz="1400" dirty="0"/>
          </a:p>
        </p:txBody>
      </p:sp>
      <p:sp>
        <p:nvSpPr>
          <p:cNvPr id="8" name="text-64"/>
          <p:cNvSpPr txBox="1"/>
          <p:nvPr/>
        </p:nvSpPr>
        <p:spPr>
          <a:xfrm>
            <a:off x="141732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열어보기, 횡전개, 측정 이력, 비교</a:t>
            </a:r>
            <a:endParaRPr lang="en-US" sz="1400" dirty="0"/>
          </a:p>
        </p:txBody>
      </p:sp>
      <p:sp>
        <p:nvSpPr>
          <p:cNvPr id="9" name="card-65"/>
          <p:cNvSpPr/>
          <p:nvPr/>
        </p:nvSpPr>
        <p:spPr>
          <a:xfrm>
            <a:off x="6227064" y="201168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ot-66"/>
          <p:cNvSpPr/>
          <p:nvPr/>
        </p:nvSpPr>
        <p:spPr>
          <a:xfrm>
            <a:off x="6501384" y="22860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-67"/>
          <p:cNvSpPr txBox="1"/>
          <p:nvPr/>
        </p:nvSpPr>
        <p:spPr>
          <a:xfrm>
            <a:off x="7095744" y="22860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통계 정보</a:t>
            </a:r>
            <a:endParaRPr lang="en-US" sz="2000" dirty="0"/>
          </a:p>
        </p:txBody>
      </p:sp>
      <p:sp>
        <p:nvSpPr>
          <p:cNvPr id="12" name="text-68"/>
          <p:cNvSpPr txBox="1"/>
          <p:nvPr/>
        </p:nvSpPr>
        <p:spPr>
          <a:xfrm>
            <a:off x="7095744" y="27889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Recipe 현황 · 디바이스 통계</a:t>
            </a:r>
            <a:endParaRPr lang="en-US" sz="1400" dirty="0"/>
          </a:p>
        </p:txBody>
      </p:sp>
      <p:sp>
        <p:nvSpPr>
          <p:cNvPr id="13" name="text-69"/>
          <p:cNvSpPr txBox="1"/>
          <p:nvPr/>
        </p:nvSpPr>
        <p:spPr>
          <a:xfrm>
            <a:off x="7095744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Recipe 별 TAT, Align · 측정 실패 추이, 디바이스별 계측 활동</a:t>
            </a:r>
            <a:endParaRPr lang="en-US" sz="1400" dirty="0"/>
          </a:p>
        </p:txBody>
      </p:sp>
      <p:sp>
        <p:nvSpPr>
          <p:cNvPr id="14" name="card-70"/>
          <p:cNvSpPr/>
          <p:nvPr/>
        </p:nvSpPr>
        <p:spPr>
          <a:xfrm>
            <a:off x="548640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dot-71"/>
          <p:cNvSpPr/>
          <p:nvPr/>
        </p:nvSpPr>
        <p:spPr>
          <a:xfrm>
            <a:off x="822960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-72"/>
          <p:cNvSpPr txBox="1"/>
          <p:nvPr/>
        </p:nvSpPr>
        <p:spPr>
          <a:xfrm>
            <a:off x="1417320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결과 데이터</a:t>
            </a:r>
            <a:endParaRPr lang="en-US" sz="2000" dirty="0"/>
          </a:p>
        </p:txBody>
      </p:sp>
      <p:sp>
        <p:nvSpPr>
          <p:cNvPr id="17" name="text-73"/>
          <p:cNvSpPr txBox="1"/>
          <p:nvPr/>
        </p:nvSpPr>
        <p:spPr>
          <a:xfrm>
            <a:off x="1417320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스큐보아</a:t>
            </a:r>
            <a:endParaRPr lang="en-US" sz="1400" dirty="0"/>
          </a:p>
        </p:txBody>
      </p:sp>
      <p:sp>
        <p:nvSpPr>
          <p:cNvPr id="18" name="text-74"/>
          <p:cNvSpPr txBox="1"/>
          <p:nvPr/>
        </p:nvSpPr>
        <p:spPr>
          <a:xfrm>
            <a:off x="1417320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측정 세트를 웨이퍼 맵, 시계열, 상관, 이미지로 분석</a:t>
            </a:r>
            <a:endParaRPr lang="en-US" sz="1400" dirty="0"/>
          </a:p>
        </p:txBody>
      </p:sp>
      <p:sp>
        <p:nvSpPr>
          <p:cNvPr id="19" name="card-75"/>
          <p:cNvSpPr/>
          <p:nvPr/>
        </p:nvSpPr>
        <p:spPr>
          <a:xfrm>
            <a:off x="6227064" y="4114800"/>
            <a:ext cx="5413248" cy="18288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ot-76"/>
          <p:cNvSpPr/>
          <p:nvPr/>
        </p:nvSpPr>
        <p:spPr>
          <a:xfrm>
            <a:off x="6501384" y="43891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-77"/>
          <p:cNvSpPr txBox="1"/>
          <p:nvPr/>
        </p:nvSpPr>
        <p:spPr>
          <a:xfrm>
            <a:off x="7095744" y="43891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장비 상태</a:t>
            </a:r>
            <a:endParaRPr lang="en-US" sz="2000" dirty="0"/>
          </a:p>
        </p:txBody>
      </p:sp>
      <p:sp>
        <p:nvSpPr>
          <p:cNvPr id="22" name="text-78"/>
          <p:cNvSpPr txBox="1"/>
          <p:nvPr/>
        </p:nvSpPr>
        <p:spPr>
          <a:xfrm>
            <a:off x="7095744" y="4892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장비 상태 · 스토리지 · H/W 관리</a:t>
            </a:r>
            <a:endParaRPr lang="en-US" sz="1400" dirty="0"/>
          </a:p>
        </p:txBody>
      </p:sp>
      <p:sp>
        <p:nvSpPr>
          <p:cNvPr id="23" name="text-79"/>
          <p:cNvSpPr txBox="1"/>
          <p:nvPr/>
        </p:nvSpPr>
        <p:spPr>
          <a:xfrm>
            <a:off x="7095744" y="52578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가용 장비, 디스크 용량, 하드웨어 지표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AFM 까지 담아 통합 서비스에 다가섰습니다</a:t>
            </a:r>
            <a:endParaRPr lang="en-US" sz="3600" dirty="0"/>
          </a:p>
        </p:txBody>
      </p:sp>
      <p:sp>
        <p:nvSpPr>
          <p:cNvPr id="3" name="text-80"/>
          <p:cNvSpPr txBox="1"/>
          <p:nvPr/>
        </p:nvSpPr>
        <p:spPr>
          <a:xfrm>
            <a:off x="548640" y="150876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AFM 관리 툴을 구현해 기존 AFM 조회 페이지를 스큐노노로 통합했습니다. E-Beam 계측에 이어 AFM 까지 한 서비스에 담아 Metrology Workspace 에 한발 더 가까워졌습니다.</a:t>
            </a:r>
            <a:endParaRPr lang="en-US" sz="1500" dirty="0"/>
          </a:p>
        </p:txBody>
      </p:sp>
      <p:sp>
        <p:nvSpPr>
          <p:cNvPr id="4" name="text-81"/>
          <p:cNvSpPr txBox="1"/>
          <p:nvPr/>
        </p:nvSpPr>
        <p:spPr>
          <a:xfrm>
            <a:off x="548640" y="3154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대상 장비 3대</a:t>
            </a:r>
            <a:endParaRPr lang="en-US" sz="1600" dirty="0"/>
          </a:p>
        </p:txBody>
      </p:sp>
      <p:sp>
        <p:nvSpPr>
          <p:cNvPr id="5" name="card-82"/>
          <p:cNvSpPr/>
          <p:nvPr/>
        </p:nvSpPr>
        <p:spPr>
          <a:xfrm>
            <a:off x="548640" y="365760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-83"/>
          <p:cNvSpPr txBox="1"/>
          <p:nvPr/>
        </p:nvSpPr>
        <p:spPr>
          <a:xfrm>
            <a:off x="822960" y="365760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MAP608</a:t>
            </a:r>
            <a:endParaRPr lang="en-US" sz="1800" dirty="0"/>
          </a:p>
        </p:txBody>
      </p:sp>
      <p:sp>
        <p:nvSpPr>
          <p:cNvPr id="7" name="text-84"/>
          <p:cNvSpPr txBox="1"/>
          <p:nvPr/>
        </p:nvSpPr>
        <p:spPr>
          <a:xfrm>
            <a:off x="3749040" y="36576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PKG</a:t>
            </a:r>
            <a:endParaRPr lang="en-US" sz="1600" dirty="0"/>
          </a:p>
        </p:txBody>
      </p:sp>
      <p:sp>
        <p:nvSpPr>
          <p:cNvPr id="8" name="card-85"/>
          <p:cNvSpPr/>
          <p:nvPr/>
        </p:nvSpPr>
        <p:spPr>
          <a:xfrm>
            <a:off x="548640" y="448056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-86"/>
          <p:cNvSpPr txBox="1"/>
          <p:nvPr/>
        </p:nvSpPr>
        <p:spPr>
          <a:xfrm>
            <a:off x="822960" y="448056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MAPC01</a:t>
            </a:r>
            <a:endParaRPr lang="en-US" sz="1800" dirty="0"/>
          </a:p>
        </p:txBody>
      </p:sp>
      <p:sp>
        <p:nvSpPr>
          <p:cNvPr id="10" name="text-87"/>
          <p:cNvSpPr txBox="1"/>
          <p:nvPr/>
        </p:nvSpPr>
        <p:spPr>
          <a:xfrm>
            <a:off x="3749040" y="448056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R3</a:t>
            </a:r>
            <a:endParaRPr lang="en-US" sz="1600" dirty="0"/>
          </a:p>
        </p:txBody>
      </p:sp>
      <p:sp>
        <p:nvSpPr>
          <p:cNvPr id="11" name="card-88"/>
          <p:cNvSpPr/>
          <p:nvPr/>
        </p:nvSpPr>
        <p:spPr>
          <a:xfrm>
            <a:off x="548640" y="5303520"/>
            <a:ext cx="484632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89"/>
          <p:cNvSpPr txBox="1"/>
          <p:nvPr/>
        </p:nvSpPr>
        <p:spPr>
          <a:xfrm>
            <a:off x="822960" y="530352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5EAP1501</a:t>
            </a:r>
            <a:endParaRPr lang="en-US" sz="1800" dirty="0"/>
          </a:p>
        </p:txBody>
      </p:sp>
      <p:sp>
        <p:nvSpPr>
          <p:cNvPr id="13" name="text-90"/>
          <p:cNvSpPr txBox="1"/>
          <p:nvPr/>
        </p:nvSpPr>
        <p:spPr>
          <a:xfrm>
            <a:off x="3749040" y="530352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M15</a:t>
            </a:r>
            <a:endParaRPr lang="en-US" sz="1600" dirty="0"/>
          </a:p>
        </p:txBody>
      </p:sp>
      <p:sp>
        <p:nvSpPr>
          <p:cNvPr id="14" name="card-91"/>
          <p:cNvSpPr/>
          <p:nvPr/>
        </p:nvSpPr>
        <p:spPr>
          <a:xfrm>
            <a:off x="5852160" y="1463040"/>
            <a:ext cx="5788152" cy="4663440"/>
          </a:xfrm>
          <a:prstGeom prst="roundRect">
            <a:avLst>
              <a:gd name="adj" fmla="val 2353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15" name="dot-92"/>
          <p:cNvSpPr/>
          <p:nvPr/>
        </p:nvSpPr>
        <p:spPr>
          <a:xfrm>
            <a:off x="6217920" y="18288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93"/>
          <p:cNvSpPr txBox="1"/>
          <p:nvPr/>
        </p:nvSpPr>
        <p:spPr>
          <a:xfrm>
            <a:off x="6858000" y="18105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측정 결과</a:t>
            </a:r>
            <a:endParaRPr lang="en-US" sz="1800" dirty="0"/>
          </a:p>
        </p:txBody>
      </p:sp>
      <p:sp>
        <p:nvSpPr>
          <p:cNvPr id="17" name="text-94"/>
          <p:cNvSpPr txBox="1"/>
          <p:nvPr/>
        </p:nvSpPr>
        <p:spPr>
          <a:xfrm>
            <a:off x="6858000" y="22128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측정 검색, 측정 상세, 시계열 비교</a:t>
            </a:r>
            <a:endParaRPr lang="en-US" sz="1400" dirty="0"/>
          </a:p>
        </p:txBody>
      </p:sp>
      <p:sp>
        <p:nvSpPr>
          <p:cNvPr id="18" name="dot-95"/>
          <p:cNvSpPr/>
          <p:nvPr/>
        </p:nvSpPr>
        <p:spPr>
          <a:xfrm>
            <a:off x="6217920" y="288036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9" name="text-96"/>
          <p:cNvSpPr txBox="1"/>
          <p:nvPr/>
        </p:nvSpPr>
        <p:spPr>
          <a:xfrm>
            <a:off x="6858000" y="286207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팁 모니터링</a:t>
            </a:r>
            <a:endParaRPr lang="en-US" sz="1800" dirty="0"/>
          </a:p>
        </p:txBody>
      </p:sp>
      <p:sp>
        <p:nvSpPr>
          <p:cNvPr id="20" name="text-97"/>
          <p:cNvSpPr txBox="1"/>
          <p:nvPr/>
        </p:nvSpPr>
        <p:spPr>
          <a:xfrm>
            <a:off x="685800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팁별 상태 판정과 Tip Width 추이</a:t>
            </a:r>
            <a:endParaRPr lang="en-US" sz="1400" dirty="0"/>
          </a:p>
        </p:txBody>
      </p:sp>
      <p:sp>
        <p:nvSpPr>
          <p:cNvPr id="21" name="dot-98"/>
          <p:cNvSpPr/>
          <p:nvPr/>
        </p:nvSpPr>
        <p:spPr>
          <a:xfrm>
            <a:off x="6217920" y="393192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text-99"/>
          <p:cNvSpPr txBox="1"/>
          <p:nvPr/>
        </p:nvSpPr>
        <p:spPr>
          <a:xfrm>
            <a:off x="6858000" y="391363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가동 현황</a:t>
            </a:r>
            <a:endParaRPr lang="en-US" sz="1800" dirty="0"/>
          </a:p>
        </p:txBody>
      </p:sp>
      <p:sp>
        <p:nvSpPr>
          <p:cNvPr id="23" name="text-100"/>
          <p:cNvSpPr txBox="1"/>
          <p:nvPr/>
        </p:nvSpPr>
        <p:spPr>
          <a:xfrm>
            <a:off x="6858000" y="431596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일별 · 시간대별 측정 건수</a:t>
            </a:r>
            <a:endParaRPr lang="en-US" sz="1400" dirty="0"/>
          </a:p>
        </p:txBody>
      </p:sp>
      <p:sp>
        <p:nvSpPr>
          <p:cNvPr id="24" name="dot-101"/>
          <p:cNvSpPr/>
          <p:nvPr/>
        </p:nvSpPr>
        <p:spPr>
          <a:xfrm>
            <a:off x="6217920" y="498348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-102"/>
          <p:cNvSpPr txBox="1"/>
          <p:nvPr/>
        </p:nvSpPr>
        <p:spPr>
          <a:xfrm>
            <a:off x="6858000" y="49651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Recipe 현황</a:t>
            </a:r>
            <a:endParaRPr lang="en-US" sz="1800" dirty="0"/>
          </a:p>
        </p:txBody>
      </p:sp>
      <p:sp>
        <p:nvSpPr>
          <p:cNvPr id="26" name="text-103"/>
          <p:cNvSpPr txBox="1"/>
          <p:nvPr/>
        </p:nvSpPr>
        <p:spPr>
          <a:xfrm>
            <a:off x="6858000" y="536752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Recipe 별 측정 이력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이후 과제</a:t>
            </a:r>
            <a:endParaRPr lang="en-US" sz="4000" dirty="0"/>
          </a:p>
        </p:txBody>
      </p:sp>
      <p:sp>
        <p:nvSpPr>
          <p:cNvPr id="21" name="dot-21"/>
          <p:cNvSpPr/>
          <p:nvPr/>
        </p:nvSpPr>
        <p:spPr>
          <a:xfrm>
            <a:off x="731520" y="1600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2" name="text-22"/>
          <p:cNvSpPr txBox="1"/>
          <p:nvPr/>
        </p:nvSpPr>
        <p:spPr>
          <a:xfrm>
            <a:off x="1417320" y="15544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Legacy 룰 전환 마무리</a:t>
            </a:r>
            <a:endParaRPr lang="en-US" sz="2600" dirty="0"/>
          </a:p>
        </p:txBody>
      </p:sp>
      <p:sp>
        <p:nvSpPr>
          <p:cNvPr id="23" name="text-23"/>
          <p:cNvSpPr txBox="1"/>
          <p:nvPr/>
        </p:nvSpPr>
        <p:spPr>
          <a:xfrm>
            <a:off x="1417320" y="21031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디바이스명 설명 스크립트 표준화를 마치고, Agent 가 계측 포인트를 직접 삭제하는 방향으로 나아갑니다.</a:t>
            </a:r>
            <a:endParaRPr lang="en-US" sz="1600" dirty="0"/>
          </a:p>
        </p:txBody>
      </p:sp>
      <p:sp>
        <p:nvSpPr>
          <p:cNvPr id="24" name="dot-24"/>
          <p:cNvSpPr/>
          <p:nvPr/>
        </p:nvSpPr>
        <p:spPr>
          <a:xfrm>
            <a:off x="731520" y="2743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5" name="text-25"/>
          <p:cNvSpPr txBox="1"/>
          <p:nvPr/>
        </p:nvSpPr>
        <p:spPr>
          <a:xfrm>
            <a:off x="1417320" y="26974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Align Fail 자동 대응 Agent</a:t>
            </a:r>
            <a:endParaRPr lang="en-US" sz="2600" dirty="0"/>
          </a:p>
        </p:txBody>
      </p:sp>
      <p:sp>
        <p:nvSpPr>
          <p:cNvPr id="26" name="text-26"/>
          <p:cNvSpPr txBox="1"/>
          <p:nvPr/>
        </p:nvSpPr>
        <p:spPr>
          <a:xfrm>
            <a:off x="1417320" y="32461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인라인 교대 구성원이 실시간 알람을 보고 하던 대응을 Agent 가 대체합니다.</a:t>
            </a:r>
            <a:endParaRPr lang="en-US" sz="1600" dirty="0"/>
          </a:p>
        </p:txBody>
      </p:sp>
      <p:sp>
        <p:nvSpPr>
          <p:cNvPr id="27" name="dot-27"/>
          <p:cNvSpPr/>
          <p:nvPr/>
        </p:nvSpPr>
        <p:spPr>
          <a:xfrm>
            <a:off x="731520" y="3886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8" name="text-28"/>
          <p:cNvSpPr txBox="1"/>
          <p:nvPr/>
        </p:nvSpPr>
        <p:spPr>
          <a:xfrm>
            <a:off x="1417320" y="38404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지원 장비 확대</a:t>
            </a:r>
            <a:endParaRPr lang="en-US" sz="2600" dirty="0"/>
          </a:p>
        </p:txBody>
      </p:sp>
      <p:sp>
        <p:nvSpPr>
          <p:cNvPr id="29" name="text-29"/>
          <p:cNvSpPr txBox="1"/>
          <p:nvPr/>
        </p:nvSpPr>
        <p:spPr>
          <a:xfrm>
            <a:off x="1417320" y="43891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VeritySEM · Provision · Thickness 로 넓혀 Metrology Workspace 통합을 이어 갑니다. VeritySEM · Provision 은 사전 조사를 시작했습니다.</a:t>
            </a:r>
            <a:endParaRPr lang="en-US" sz="1600" dirty="0"/>
          </a:p>
        </p:txBody>
      </p:sp>
      <p:sp>
        <p:nvSpPr>
          <p:cNvPr id="10" name="item3-0"/>
          <p:cNvSpPr/>
          <p:nvPr/>
        </p:nvSpPr>
        <p:spPr>
          <a:xfrm>
            <a:off x="731520" y="5029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1" name="item3-1"/>
          <p:cNvSpPr txBox="1"/>
          <p:nvPr/>
        </p:nvSpPr>
        <p:spPr>
          <a:xfrm>
            <a:off x="1417320" y="498348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Recipe 일괄 복사 도구</a:t>
            </a:r>
            <a:endParaRPr lang="en-US" sz="2600" dirty="0"/>
          </a:p>
        </p:txBody>
      </p:sp>
      <p:sp>
        <p:nvSpPr>
          <p:cNvPr id="12" name="item3-2"/>
          <p:cNvSpPr txBox="1"/>
          <p:nvPr/>
        </p:nvSpPr>
        <p:spPr>
          <a:xfrm>
            <a:off x="1417320" y="553212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여러 장비에 Recipe 를 한 번에 복사하는 별도 앱을 설계하고 있습니다.</a:t>
            </a:r>
            <a:endParaRPr lang="en-US" sz="1600" dirty="0"/>
          </a:p>
        </p:txBody>
      </p:sp>
      <p:sp>
        <p:nvSpPr>
          <p:cNvPr id="9" name="text-1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일평균 접속자 60~70명 · 인라인 교대 구성원 · 공정/소자 엔지니어 · 검/계측 효율화 TF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코드 24.9만 줄, 셋 중 하나는 테스트입니다</a:t>
            </a:r>
            <a:endParaRPr lang="en-US" sz="3600" dirty="0"/>
          </a:p>
        </p:txBody>
      </p:sp>
      <p:sp>
        <p:nvSpPr>
          <p:cNvPr id="3" name="card-3"/>
          <p:cNvSpPr/>
          <p:nvPr/>
        </p:nvSpPr>
        <p:spPr>
          <a:xfrm>
            <a:off x="548640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15110D"/>
          </a:solidFill>
          <a:ln w="12700">
            <a:solidFill>
              <a:srgbClr val="15110D"/>
            </a:solidFill>
            <a:prstDash val="solid"/>
          </a:ln>
        </p:spPr>
      </p:sp>
      <p:sp>
        <p:nvSpPr>
          <p:cNvPr id="4" name="text-4"/>
          <p:cNvSpPr txBox="1"/>
          <p:nvPr/>
        </p:nvSpPr>
        <p:spPr>
          <a:xfrm>
            <a:off x="822960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24.9만 줄</a:t>
            </a:r>
            <a:endParaRPr lang="en-US" sz="4800" dirty="0"/>
          </a:p>
        </p:txBody>
      </p:sp>
      <p:sp>
        <p:nvSpPr>
          <p:cNvPr id="5" name="text-5"/>
          <p:cNvSpPr txBox="1"/>
          <p:nvPr/>
        </p:nvSpPr>
        <p:spPr>
          <a:xfrm>
            <a:off x="822960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전체 코드</a:t>
            </a:r>
            <a:endParaRPr lang="en-US" sz="1800" dirty="0"/>
          </a:p>
        </p:txBody>
      </p:sp>
      <p:sp>
        <p:nvSpPr>
          <p:cNvPr id="6" name="text-6"/>
          <p:cNvSpPr txBox="1"/>
          <p:nvPr/>
        </p:nvSpPr>
        <p:spPr>
          <a:xfrm>
            <a:off x="822960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원본 복사 모듈 13,300줄 포함</a:t>
            </a:r>
            <a:endParaRPr lang="en-US" sz="1400" dirty="0"/>
          </a:p>
        </p:txBody>
      </p:sp>
      <p:sp>
        <p:nvSpPr>
          <p:cNvPr id="7" name="card-7"/>
          <p:cNvSpPr/>
          <p:nvPr/>
        </p:nvSpPr>
        <p:spPr>
          <a:xfrm>
            <a:off x="4334256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-8"/>
          <p:cNvSpPr txBox="1"/>
          <p:nvPr/>
        </p:nvSpPr>
        <p:spPr>
          <a:xfrm>
            <a:off x="4608576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+25%</a:t>
            </a:r>
            <a:endParaRPr lang="en-US" sz="4800" dirty="0"/>
          </a:p>
        </p:txBody>
      </p:sp>
      <p:sp>
        <p:nvSpPr>
          <p:cNvPr id="9" name="text-9"/>
          <p:cNvSpPr txBox="1"/>
          <p:nvPr/>
        </p:nvSpPr>
        <p:spPr>
          <a:xfrm>
            <a:off x="4608576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직접 작성 코드 증가</a:t>
            </a:r>
            <a:endParaRPr lang="en-US" sz="1800" dirty="0"/>
          </a:p>
        </p:txBody>
      </p:sp>
      <p:sp>
        <p:nvSpPr>
          <p:cNvPr id="10" name="text-10"/>
          <p:cNvSpPr txBox="1"/>
          <p:nvPr/>
        </p:nvSpPr>
        <p:spPr>
          <a:xfrm>
            <a:off x="4608576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8/18 188,345줄 → 235,530줄</a:t>
            </a:r>
            <a:endParaRPr lang="en-US" sz="1400" dirty="0"/>
          </a:p>
        </p:txBody>
      </p:sp>
      <p:sp>
        <p:nvSpPr>
          <p:cNvPr id="11" name="card-11"/>
          <p:cNvSpPr/>
          <p:nvPr/>
        </p:nvSpPr>
        <p:spPr>
          <a:xfrm>
            <a:off x="8119872" y="1508760"/>
            <a:ext cx="352044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-12"/>
          <p:cNvSpPr txBox="1"/>
          <p:nvPr/>
        </p:nvSpPr>
        <p:spPr>
          <a:xfrm>
            <a:off x="8394192" y="169164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</a:rPr>
              <a:t>33%</a:t>
            </a:r>
            <a:endParaRPr lang="en-US" sz="4800" dirty="0"/>
          </a:p>
        </p:txBody>
      </p:sp>
      <p:sp>
        <p:nvSpPr>
          <p:cNvPr id="13" name="text-13"/>
          <p:cNvSpPr txBox="1"/>
          <p:nvPr/>
        </p:nvSpPr>
        <p:spPr>
          <a:xfrm>
            <a:off x="8394192" y="2651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테스트 코드 비중</a:t>
            </a:r>
            <a:endParaRPr lang="en-US" sz="1800" dirty="0"/>
          </a:p>
        </p:txBody>
      </p:sp>
      <p:sp>
        <p:nvSpPr>
          <p:cNvPr id="14" name="text-14"/>
          <p:cNvSpPr txBox="1"/>
          <p:nvPr/>
        </p:nvSpPr>
        <p:spPr>
          <a:xfrm>
            <a:off x="8394192" y="30632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테스트 77,031줄</a:t>
            </a:r>
            <a:endParaRPr lang="en-US" sz="1400" dirty="0"/>
          </a:p>
        </p:txBody>
      </p:sp>
      <p:sp>
        <p:nvSpPr>
          <p:cNvPr id="15" name="dot-15"/>
          <p:cNvSpPr/>
          <p:nvPr/>
        </p:nvSpPr>
        <p:spPr>
          <a:xfrm>
            <a:off x="548640" y="3886200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6" name="text-16"/>
          <p:cNvSpPr txBox="1"/>
          <p:nvPr/>
        </p:nvSpPr>
        <p:spPr>
          <a:xfrm>
            <a:off x="1143000" y="3886200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프론트엔드</a:t>
            </a:r>
            <a:endParaRPr lang="en-US" sz="1600" dirty="0"/>
          </a:p>
        </p:txBody>
      </p:sp>
      <p:sp>
        <p:nvSpPr>
          <p:cNvPr id="17" name="text-17"/>
          <p:cNvSpPr txBox="1"/>
          <p:nvPr/>
        </p:nvSpPr>
        <p:spPr>
          <a:xfrm>
            <a:off x="3566160" y="388620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93,635줄</a:t>
            </a:r>
            <a:endParaRPr lang="en-US" sz="1400" dirty="0"/>
          </a:p>
        </p:txBody>
      </p:sp>
      <p:sp>
        <p:nvSpPr>
          <p:cNvPr id="18" name="text-18"/>
          <p:cNvSpPr txBox="1"/>
          <p:nvPr/>
        </p:nvSpPr>
        <p:spPr>
          <a:xfrm>
            <a:off x="6263640" y="388620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화면 63개 · 컴포넌트 272개</a:t>
            </a:r>
            <a:endParaRPr lang="en-US" sz="1400" dirty="0"/>
          </a:p>
        </p:txBody>
      </p:sp>
      <p:sp>
        <p:nvSpPr>
          <p:cNvPr id="19" name="dot-19"/>
          <p:cNvSpPr/>
          <p:nvPr/>
        </p:nvSpPr>
        <p:spPr>
          <a:xfrm>
            <a:off x="548640" y="4361688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0" name="text-20"/>
          <p:cNvSpPr txBox="1"/>
          <p:nvPr/>
        </p:nvSpPr>
        <p:spPr>
          <a:xfrm>
            <a:off x="1143000" y="43616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백엔드</a:t>
            </a:r>
            <a:endParaRPr lang="en-US" sz="1600" dirty="0"/>
          </a:p>
        </p:txBody>
      </p:sp>
      <p:sp>
        <p:nvSpPr>
          <p:cNvPr id="21" name="text-21"/>
          <p:cNvSpPr txBox="1"/>
          <p:nvPr/>
        </p:nvSpPr>
        <p:spPr>
          <a:xfrm>
            <a:off x="3566160" y="436168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64,864줄</a:t>
            </a:r>
            <a:endParaRPr lang="en-US" sz="1400" dirty="0"/>
          </a:p>
        </p:txBody>
      </p:sp>
      <p:sp>
        <p:nvSpPr>
          <p:cNvPr id="22" name="text-22"/>
          <p:cNvSpPr txBox="1"/>
          <p:nvPr/>
        </p:nvSpPr>
        <p:spPr>
          <a:xfrm>
            <a:off x="6263640" y="436168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API 엔드포인트 113개 · 운영 스크립트 9,599줄 포함</a:t>
            </a:r>
            <a:endParaRPr lang="en-US" sz="1400" dirty="0"/>
          </a:p>
        </p:txBody>
      </p:sp>
      <p:sp>
        <p:nvSpPr>
          <p:cNvPr id="23" name="dot-23"/>
          <p:cNvSpPr/>
          <p:nvPr/>
        </p:nvSpPr>
        <p:spPr>
          <a:xfrm>
            <a:off x="548640" y="4837176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text-24"/>
          <p:cNvSpPr txBox="1"/>
          <p:nvPr/>
        </p:nvSpPr>
        <p:spPr>
          <a:xfrm>
            <a:off x="1143000" y="483717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백엔드 테스트</a:t>
            </a:r>
            <a:endParaRPr lang="en-US" sz="1600" dirty="0"/>
          </a:p>
        </p:txBody>
      </p:sp>
      <p:sp>
        <p:nvSpPr>
          <p:cNvPr id="25" name="text-25"/>
          <p:cNvSpPr txBox="1"/>
          <p:nvPr/>
        </p:nvSpPr>
        <p:spPr>
          <a:xfrm>
            <a:off x="3566160" y="48371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51,681줄</a:t>
            </a:r>
            <a:endParaRPr lang="en-US" sz="1400" dirty="0"/>
          </a:p>
        </p:txBody>
      </p:sp>
      <p:sp>
        <p:nvSpPr>
          <p:cNvPr id="26" name="text-26"/>
          <p:cNvSpPr txBox="1"/>
          <p:nvPr/>
        </p:nvSpPr>
        <p:spPr>
          <a:xfrm>
            <a:off x="6263640" y="483717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기능별 provider 계약 테스트와 통합 테스트</a:t>
            </a:r>
            <a:endParaRPr lang="en-US" sz="1400" dirty="0"/>
          </a:p>
        </p:txBody>
      </p:sp>
      <p:sp>
        <p:nvSpPr>
          <p:cNvPr id="27" name="dot-27"/>
          <p:cNvSpPr/>
          <p:nvPr/>
        </p:nvSpPr>
        <p:spPr>
          <a:xfrm>
            <a:off x="548640" y="5312664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text-28"/>
          <p:cNvSpPr txBox="1"/>
          <p:nvPr/>
        </p:nvSpPr>
        <p:spPr>
          <a:xfrm>
            <a:off x="1143000" y="531266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프론트 테스트</a:t>
            </a:r>
            <a:endParaRPr lang="en-US" sz="1600" dirty="0"/>
          </a:p>
        </p:txBody>
      </p:sp>
      <p:sp>
        <p:nvSpPr>
          <p:cNvPr id="29" name="text-29"/>
          <p:cNvSpPr txBox="1"/>
          <p:nvPr/>
        </p:nvSpPr>
        <p:spPr>
          <a:xfrm>
            <a:off x="3566160" y="531266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25,350줄</a:t>
            </a:r>
            <a:endParaRPr lang="en-US" sz="1400" dirty="0"/>
          </a:p>
        </p:txBody>
      </p:sp>
      <p:sp>
        <p:nvSpPr>
          <p:cNvPr id="30" name="text-30"/>
          <p:cNvSpPr txBox="1"/>
          <p:nvPr/>
        </p:nvSpPr>
        <p:spPr>
          <a:xfrm>
            <a:off x="6263640" y="531266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순수 함수 단위 테스트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31" name="row5-0"/>
          <p:cNvSpPr/>
          <p:nvPr/>
        </p:nvSpPr>
        <p:spPr>
          <a:xfrm>
            <a:off x="548640" y="5788152"/>
            <a:ext cx="420624" cy="420624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2" name="row5-1"/>
          <p:cNvSpPr txBox="1"/>
          <p:nvPr/>
        </p:nvSpPr>
        <p:spPr>
          <a:xfrm>
            <a:off x="1143000" y="5788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원본 복사 모듈</a:t>
            </a:r>
            <a:endParaRPr lang="en-US" sz="1600" dirty="0"/>
          </a:p>
        </p:txBody>
      </p:sp>
      <p:sp>
        <p:nvSpPr>
          <p:cNvPr id="33" name="row5-2"/>
          <p:cNvSpPr txBox="1"/>
          <p:nvPr/>
        </p:nvSpPr>
        <p:spPr>
          <a:xfrm>
            <a:off x="3566160" y="578815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13,300줄</a:t>
            </a:r>
            <a:endParaRPr lang="en-US" sz="1400" dirty="0"/>
          </a:p>
        </p:txBody>
      </p:sp>
      <p:sp>
        <p:nvSpPr>
          <p:cNvPr id="34" name="row5-3"/>
          <p:cNvSpPr txBox="1"/>
          <p:nvPr/>
        </p:nvSpPr>
        <p:spPr>
          <a:xfrm>
            <a:off x="6263640" y="5788152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ftp_handler · minio_handler · ops_store · ops_index_mgmt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KEWNONO">
  <a:themeElements>
    <a:clrScheme name="SKEWNONO">
      <a:dk1>
        <a:srgbClr val="15110D"/>
      </a:dk1>
      <a:lt1>
        <a:srgbClr val="FFFFFF"/>
      </a:lt1>
      <a:dk2>
        <a:srgbClr val="5C534A"/>
      </a:dk2>
      <a:lt2>
        <a:srgbClr val="F3F1EE"/>
      </a:lt2>
      <a:accent1>
        <a:srgbClr val="C75A3C"/>
      </a:accent1>
      <a:accent2>
        <a:srgbClr val="8A3D27"/>
      </a:accent2>
      <a:accent3>
        <a:srgbClr val="F3DCD2"/>
      </a:accent3>
      <a:accent4>
        <a:srgbClr val="3F7D4E"/>
      </a:accent4>
      <a:accent5>
        <a:srgbClr val="9A9088"/>
      </a:accent5>
      <a:accent6>
        <a:srgbClr val="E3DED8"/>
      </a:accent6>
      <a:hlink>
        <a:srgbClr val="C75A3C"/>
      </a:hlink>
      <a:folHlink>
        <a:srgbClr val="8A3D27"/>
      </a:folHlink>
    </a:clrScheme>
    <a:fontScheme name="SKEWNONO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SKEWNONO 2026년 성과 보고</dc:title>
  <dc:subject>PptxGenJS Presentation</dc:subject>
  <dc:creator>PptxGenJS</dc:creator>
  <cp:lastModifiedBy>PptxGenJS</cp:lastModifiedBy>
  <cp:revision>1</cp:revision>
  <dcterms:created xsi:type="dcterms:W3CDTF">2026-10-09T06:52:33Z</dcterms:created>
  <dcterms:modified xsi:type="dcterms:W3CDTF">2026-10-09T06:52:33Z</dcterms:modified>
</cp:coreProperties>
</file>